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introduce the proposed pilot, not a finished course or approved operating procedure. The audience already knows the analysis. The training makes that knowledge explicit and gives analysts observable evidence for bounded acceptance. Four sessions are proposed at approximately 25 minutes each. Environment access and basic code-running prerequisites need separate preparation. Ask reviewers to assess fit and scope rather than evaluate model brands.
Suggested opening: You already know what the analysis needs to do. This pilot teaches a workflow for directing a candidate translation and checking what it actually did.
The core curriculum, field guide, desk reference and one working MEAN prototype are supplied in this package. Full learner decks for all four sessions are a later production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this as a sequence of review gates, not an acronym to memorize. Understand: analyst checks the explanation. Specify: analyst decides consequential requirements. Translate: model proposes one implementation. Check: reviewed code is executed and compared with expectations established separately from the implementation. Improve: optimization or redesign is requested as a distinct step.
Do not promise identical text, output convergence, or guaranteed correctness. The pedagogical focus is on explicit choices and reproducible checks. Behavioral equivalence and identical source text are different ideas. Three passing tests establish bounded evidence, not proof for every input.
Facilitator question: What must remain true before we accept this translation? Follow-up during discussion: What does the current evidence not establish?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recurring cadence: 5 minutes explanation, 8 demonstration, 8 practice, 4 discussion. Sessions may need adjustment after a pilot group.
Session 1: choose a short, familiar SAS program. Ask for explanation without translation. Learners inspect inputs, transformations, outputs and missing dependencies. Exit evidence: a corrected explanation and one explicit unresolved assumption.
Session 2: use MEAN. Show how the practical headings make consequential choices visible. Capture first A/B responses before revealing the reference implementation. Exit evidence: a bounded request with behavior and output requirements. A working A response is a valid result.
Session 3: use SUBSTR or LENGTH from the existing modules. Walk through known answers, discriminating cases and preservation. Exit evidence: expected versus actual, an acceptance decision, and stated limits.
Session 4: use a small, synthetic read/filter/derive/summarize workflow. Chunk at input/output boundaries, carrying dependencies between units. Test the assembled result, not only isolated pieces. Exit evidence: a reviewed map and a bounded integration record.
Pre-class: confirm approved access, synthetic fixtures, package versions and an available execution path. Do not spend the class on SSH, credentials, or installing Jupyter. Provide captured reference examples for demonstrations, clearly labeled as reference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example: SAS averages nonmissing arguments and returns missing when none is observed. The source rows and calculation are retained from module 01. The pilot introduces a callable Python interface and explicit preservation requirements so both prompt variants can use one harness.
The learner-facing lesson is not which model knows MEAN. It is which choices were supplied, which were inferred, and how the result is checked. Avoid staging an inevitable failure for the open prompt. Capture the first response, inspect it, and execute it separately.
For the demonstration, use only synthetic fixtures and approved inputs. Response-only restrictions keep proposal generation distinct from execution; actual application permissions also need to be configured appropriately.
Sources:
https://support.sas.com/documentation/cdl/en/lrdict/64316/HTML/default/a000245914.htm
https://github.com/the-pgh-cid/sas-training-modules/blob/85c3041e74ddd7ef80086add2b29fa49292bebea/module-01-mean/appendix/fixtures.csv
Full prompt: 02_Field_guide.pdf, page 2; new pilot A/B variants: 04_MEAN_workbook.ipynb.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fixture table contains expected values, not captured SAS output. The Python reference and callable-based harness supplied with this pilot are executed locally; the package records the actual environment and output. No new SAS run, R run, or live Bedrock response is claimed.
T1 checks all three original rows. T2 checks the same added zero and negative cases in the current repository. T3 reverses rows and uses a non-default index to detect incidental order/index handling, asserts that the input is unchanged, and checks output structure and numeric results. Expected values are held separately from the candidate.
The notebook's optional error demonstration is an instructor-authored negative example, not evidence of model failure. It is disabled by default.
Sources:
https://support.sas.com/documentation/cdl/en/lrdict/64316/HTML/default/a000245914.htm
https://pandas.pydata.org/docs/reference/api/pandas.DataFrame.mean.html
https://pandas.pydata.org/docs/user_guide/missing_data.html
https://github.com/the-pgh-cid/sas-training-modules/blob/85c3041e74ddd7ef80086add2b29fa49292bebea/APPENDICES.md
https://github.com/the-pgh-cid/sas-training-modules/blob/85c3041e74ddd7ef80086add2b29fa49292bebea/module-01-mean/appendix/fixtures.csv
https://github.com/the-pgh-cid/sas-training-modules/blob/85c3041e74ddd7ef80086add2b29fa49292bebea/module-01-mean/appendix/test_reference.py
Facilitator question: Which check rejects replacing missing values with zero, and what remains untested even after all three tests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actual files during review. The four-page field guide is the learner-facing core. The desk reference is US Letter, intended for two-sided long-edge printing. The existing module PDFs remain worked examples rather than being copied into a competing curriculum.
The MEAN .ipynb is self-contained: it embeds the exact fixture snapshot, supplied reference, and adapted harness. It needs an approved Python kernel with pandas, but no Bedrock API call. A static HTML export lets non-notebook users review the content and local execution output. It is not executable.
Portal route: obtain a response through the approved interface, retain it, inspect the candidate, then run it in the approved execution environment. Notebook route: use the same process with the notebook as the evidence surface. VS Code and SSH are optional access arrangements, not course objectives.
Jupyter separates Markdown and code cells; code executes in the selected kernel. Notebook files can retain outputs. Inspect code, restart, run top to bottom, and inspect saved outputs before sharing.
Source: https://jupyter-notebook.readthedocs.io/en/stable/notebook.html
No integration with the production Bedrock portal has been tested in this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user's model inventory is environmental context, not a reason to create model-specific lessons. No availability claim or comparative model ranking is made here. The team must confirm the actual approved model, application, tool permissions and settings used for the pilot. Bedrock inference parameter support and ranges vary by model.
Python is the introductory implementation target. R comparisons remain in existing appendices, with Stata and Julia as later extensions. DuckDB is proposed as an optional analytical SQL layer, not as an automatic replacement for all SAS semantics. Complex macros, stateful DATA steps and statistical-procedure equivalence remain outside this introductory pilot.
Prerequisites: approved model access; authorized synthetic data; a reviewed execution environment; someone available to resolve SAS semantic questions; and a fallback demonstration path. Preserve environment versions rather than assuming our local authoring setup matches the enterprise setup.
Source for the limited Bedrock configuration statement: https://docs.aws.amazon.com/bedrock/latest/userguide/inference-parameters.html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review decision: approve or revise the four-session pilot concept and its boundaries; identify the source-semantic reviewer and environment owner; confirm prerequisites; then refine a first delivery using actual observations. No individual is assigned by this artifact and no rollout is approved.
Completion evidence should be observable: the learner identifies an unstated assumption, adds the consequential requirement to a bounded request, executes relevant checks on reviewed code, and explains the acceptance limit. Recognizing that clarification is needed can be a successful outcome.
This is an initial artifact set: a concept deck with facilitation notes, a four-page field guide, a two-sided desk reference, and one executable MEAN prototype with a static preview. It is not a full four-session slide curriculum.
Provenance: current module source checked through GitHub at commit 85c3041e74ddd7ef80086add2b29fa49292bebea. Fixture bytes are preserved. The notebook reference/harness are documented adaptations, not historical model responses. The supplied reference is locally tested; enterprise validation, SAS execution and live Bedrock trials remain separate.
Repository source: https://github.com/the-pgh-cid/sas-training-modules/blob/85c3041e74ddd7ef80086add2b29fa49292bebea/APPENDICES.md
Companion package: 00_START_HERE.html and notebook/source-provenance.json.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3D4D"/>
        </a:solidFill>
      </p:bgPr>
    </p:bg>
    <p:spTree>
      <p:nvGrpSpPr>
        <p:cNvPr id="1" name=""/>
        <p:cNvGrpSpPr/>
        <p:nvPr/>
      </p:nvGrpSpPr>
      <p:grpSpPr>
        <a:xfrm>
          <a:off x="0" y="0"/>
          <a:ext cx="0" cy="0"/>
          <a:chOff x="0" y="0"/>
          <a:chExt cx="0" cy="0"/>
        </a:xfrm>
      </p:grpSpPr>
      <p:sp>
        <p:nvSpPr>
          <p:cNvPr id="2" name="Shape 0"/>
          <p:cNvSpPr/>
          <p:nvPr/>
        </p:nvSpPr>
        <p:spPr>
          <a:xfrm>
            <a:off x="0" y="0"/>
            <a:ext cx="12192000" cy="91440"/>
          </a:xfrm>
          <a:prstGeom prst="rect">
            <a:avLst/>
          </a:prstGeom>
          <a:solidFill>
            <a:srgbClr val="187D7C"/>
          </a:solidFill>
          <a:ln w="6350">
            <a:solidFill>
              <a:srgbClr val="187D7C"/>
            </a:solidFill>
            <a:prstDash val="solid"/>
          </a:ln>
        </p:spPr>
      </p:sp>
      <p:sp>
        <p:nvSpPr>
          <p:cNvPr id="3" name="Text 1"/>
          <p:cNvSpPr/>
          <p:nvPr/>
        </p:nvSpPr>
        <p:spPr>
          <a:xfrm>
            <a:off x="685800" y="393192"/>
            <a:ext cx="9144000" cy="274320"/>
          </a:xfrm>
          <a:prstGeom prst="rect">
            <a:avLst/>
          </a:prstGeom>
          <a:noFill/>
          <a:ln/>
        </p:spPr>
        <p:txBody>
          <a:bodyPr wrap="square" lIns="0" tIns="0" rIns="0" bIns="0" rtlCol="0" anchor="t"/>
          <a:lstStyle/>
          <a:p>
            <a:pPr indent="0" marL="0">
              <a:buNone/>
            </a:pPr>
            <a:r>
              <a:rPr lang="en-US" sz="1100" b="1" dirty="0">
                <a:solidFill>
                  <a:srgbClr val="BDDCD8"/>
                </a:solidFill>
                <a:latin typeface="Lato" pitchFamily="34" charset="0"/>
                <a:ea typeface="Lato" pitchFamily="34" charset="-122"/>
                <a:cs typeface="Lato" pitchFamily="34" charset="-120"/>
              </a:rPr>
              <a:t>SAS TO PYTHON  /  TRAINING PILOT</a:t>
            </a:r>
            <a:endParaRPr lang="en-US" sz="1100" dirty="0"/>
          </a:p>
        </p:txBody>
      </p:sp>
      <p:sp>
        <p:nvSpPr>
          <p:cNvPr id="4" name="Text 2"/>
          <p:cNvSpPr/>
          <p:nvPr/>
        </p:nvSpPr>
        <p:spPr>
          <a:xfrm>
            <a:off x="685800" y="987552"/>
            <a:ext cx="10698480" cy="713232"/>
          </a:xfrm>
          <a:prstGeom prst="rect">
            <a:avLst/>
          </a:prstGeom>
          <a:noFill/>
          <a:ln/>
        </p:spPr>
        <p:txBody>
          <a:bodyPr wrap="square" lIns="0" tIns="0" rIns="0" bIns="0" rtlCol="0" anchor="t"/>
          <a:lstStyle/>
          <a:p>
            <a:pPr indent="0" marL="0">
              <a:buNone/>
            </a:pPr>
            <a:r>
              <a:rPr lang="en-US" sz="4200" b="1" dirty="0">
                <a:solidFill>
                  <a:srgbClr val="FFFFFF"/>
                </a:solidFill>
                <a:latin typeface="Lato" pitchFamily="34" charset="0"/>
                <a:ea typeface="Lato" pitchFamily="34" charset="-122"/>
                <a:cs typeface="Lato" pitchFamily="34" charset="-120"/>
              </a:rPr>
              <a:t>Working with LLMs</a:t>
            </a:r>
            <a:endParaRPr lang="en-US" sz="4200" dirty="0"/>
          </a:p>
        </p:txBody>
      </p:sp>
      <p:sp>
        <p:nvSpPr>
          <p:cNvPr id="5" name="Text 3"/>
          <p:cNvSpPr/>
          <p:nvPr/>
        </p:nvSpPr>
        <p:spPr>
          <a:xfrm>
            <a:off x="685800" y="1856232"/>
            <a:ext cx="8046720" cy="1115568"/>
          </a:xfrm>
          <a:prstGeom prst="rect">
            <a:avLst/>
          </a:prstGeom>
          <a:noFill/>
          <a:ln/>
        </p:spPr>
        <p:txBody>
          <a:bodyPr wrap="square" lIns="0" tIns="0" rIns="0" bIns="0" rtlCol="0" anchor="t"/>
          <a:lstStyle/>
          <a:p>
            <a:pPr indent="0" marL="0">
              <a:buNone/>
            </a:pPr>
            <a:r>
              <a:rPr lang="en-US" sz="3100" b="1" dirty="0">
                <a:solidFill>
                  <a:srgbClr val="FFFFFF"/>
                </a:solidFill>
                <a:latin typeface="Lato" pitchFamily="34" charset="0"/>
                <a:ea typeface="Lato" pitchFamily="34" charset="-122"/>
                <a:cs typeface="Lato" pitchFamily="34" charset="-120"/>
              </a:rPr>
              <a:t>Understand, translate,</a:t>
            </a:r>
            <a:endParaRPr lang="en-US" sz="3100" dirty="0"/>
          </a:p>
          <a:p>
            <a:pPr indent="0" marL="0">
              <a:buNone/>
            </a:pPr>
            <a:r>
              <a:rPr lang="en-US" sz="3100" b="1" dirty="0">
                <a:solidFill>
                  <a:srgbClr val="FFFFFF"/>
                </a:solidFill>
                <a:latin typeface="Lato" pitchFamily="34" charset="0"/>
                <a:ea typeface="Lato" pitchFamily="34" charset="-122"/>
                <a:cs typeface="Lato" pitchFamily="34" charset="-120"/>
              </a:rPr>
              <a:t>and validate SAS workflows</a:t>
            </a:r>
            <a:endParaRPr lang="en-US" sz="3100" dirty="0"/>
          </a:p>
        </p:txBody>
      </p:sp>
      <p:sp>
        <p:nvSpPr>
          <p:cNvPr id="6" name="Text 4"/>
          <p:cNvSpPr/>
          <p:nvPr/>
        </p:nvSpPr>
        <p:spPr>
          <a:xfrm>
            <a:off x="685800" y="3246120"/>
            <a:ext cx="7315200" cy="713232"/>
          </a:xfrm>
          <a:prstGeom prst="rect">
            <a:avLst/>
          </a:prstGeom>
          <a:noFill/>
          <a:ln/>
        </p:spPr>
        <p:txBody>
          <a:bodyPr wrap="square" lIns="0" tIns="0" rIns="0" bIns="0" rtlCol="0" anchor="t"/>
          <a:lstStyle/>
          <a:p>
            <a:pPr indent="0" marL="0">
              <a:buNone/>
            </a:pPr>
            <a:r>
              <a:rPr lang="en-US" sz="2000" dirty="0">
                <a:solidFill>
                  <a:srgbClr val="D2E0E1"/>
                </a:solidFill>
                <a:latin typeface="Lato" pitchFamily="34" charset="0"/>
                <a:ea typeface="Lato" pitchFamily="34" charset="-122"/>
                <a:cs typeface="Lato" pitchFamily="34" charset="-120"/>
              </a:rPr>
              <a:t>For data science professionals who know SAS</a:t>
            </a:r>
            <a:endParaRPr lang="en-US" sz="2000" dirty="0"/>
          </a:p>
          <a:p>
            <a:pPr indent="0" marL="0">
              <a:buNone/>
            </a:pPr>
            <a:r>
              <a:rPr lang="en-US" sz="2000" dirty="0">
                <a:solidFill>
                  <a:srgbClr val="D2E0E1"/>
                </a:solidFill>
                <a:latin typeface="Lato" pitchFamily="34" charset="0"/>
                <a:ea typeface="Lato" pitchFamily="34" charset="-122"/>
                <a:cs typeface="Lato" pitchFamily="34" charset="-120"/>
              </a:rPr>
              <a:t>and are new to LLM collaboration.</a:t>
            </a:r>
            <a:endParaRPr lang="en-US" sz="2000" dirty="0"/>
          </a:p>
        </p:txBody>
      </p:sp>
      <p:sp>
        <p:nvSpPr>
          <p:cNvPr id="7" name="Text 5"/>
          <p:cNvSpPr/>
          <p:nvPr/>
        </p:nvSpPr>
        <p:spPr>
          <a:xfrm>
            <a:off x="685800" y="4462272"/>
            <a:ext cx="8001000" cy="1024128"/>
          </a:xfrm>
          <a:prstGeom prst="rect">
            <a:avLst/>
          </a:prstGeom>
          <a:noFill/>
          <a:ln/>
        </p:spPr>
        <p:txBody>
          <a:bodyPr wrap="square" lIns="0" tIns="0" rIns="0" bIns="0" rtlCol="0" anchor="t"/>
          <a:lstStyle/>
          <a:p>
            <a:pPr indent="0" marL="0">
              <a:buNone/>
            </a:pPr>
            <a:r>
              <a:rPr lang="en-US" sz="2700" b="1" dirty="0">
                <a:solidFill>
                  <a:srgbClr val="A9DAD0"/>
                </a:solidFill>
                <a:latin typeface="Lato" pitchFamily="34" charset="0"/>
                <a:ea typeface="Lato" pitchFamily="34" charset="-122"/>
                <a:cs typeface="Lato" pitchFamily="34" charset="-120"/>
              </a:rPr>
              <a:t>Teach a collaboration workflow,</a:t>
            </a:r>
            <a:endParaRPr lang="en-US" sz="2700" dirty="0"/>
          </a:p>
          <a:p>
            <a:pPr indent="0" marL="0">
              <a:buNone/>
            </a:pPr>
            <a:r>
              <a:rPr lang="en-US" sz="2700" b="1" dirty="0">
                <a:solidFill>
                  <a:srgbClr val="A9DAD0"/>
                </a:solidFill>
                <a:latin typeface="Lato" pitchFamily="34" charset="0"/>
                <a:ea typeface="Lato" pitchFamily="34" charset="-122"/>
                <a:cs typeface="Lato" pitchFamily="34" charset="-120"/>
              </a:rPr>
              <a:t>not a collection of magic prompts.</a:t>
            </a:r>
            <a:endParaRPr lang="en-US" sz="2700" dirty="0"/>
          </a:p>
        </p:txBody>
      </p:sp>
      <p:sp>
        <p:nvSpPr>
          <p:cNvPr id="8" name="Shape 6"/>
          <p:cNvSpPr/>
          <p:nvPr/>
        </p:nvSpPr>
        <p:spPr>
          <a:xfrm>
            <a:off x="9235440" y="1865376"/>
            <a:ext cx="2258568" cy="3611880"/>
          </a:xfrm>
          <a:prstGeom prst="rect">
            <a:avLst/>
          </a:prstGeom>
          <a:solidFill>
            <a:srgbClr val="254B5B"/>
          </a:solidFill>
          <a:ln w="6350">
            <a:solidFill>
              <a:srgbClr val="254B5B"/>
            </a:solidFill>
            <a:prstDash val="solid"/>
          </a:ln>
        </p:spPr>
      </p:sp>
      <p:sp>
        <p:nvSpPr>
          <p:cNvPr id="9" name="Text 7"/>
          <p:cNvSpPr/>
          <p:nvPr/>
        </p:nvSpPr>
        <p:spPr>
          <a:xfrm>
            <a:off x="9464040" y="2139696"/>
            <a:ext cx="1792224" cy="713232"/>
          </a:xfrm>
          <a:prstGeom prst="rect">
            <a:avLst/>
          </a:prstGeom>
          <a:noFill/>
          <a:ln/>
        </p:spPr>
        <p:txBody>
          <a:bodyPr wrap="square" lIns="0" tIns="0" rIns="0" bIns="0" rtlCol="0" anchor="t"/>
          <a:lstStyle/>
          <a:p>
            <a:pPr indent="0" marL="0">
              <a:buNone/>
            </a:pPr>
            <a:r>
              <a:rPr lang="en-US" sz="4800" b="1" dirty="0">
                <a:solidFill>
                  <a:srgbClr val="FFFFFF"/>
                </a:solidFill>
                <a:latin typeface="Lato" pitchFamily="34" charset="0"/>
                <a:ea typeface="Lato" pitchFamily="34" charset="-122"/>
                <a:cs typeface="Lato" pitchFamily="34" charset="-120"/>
              </a:rPr>
              <a:t>4</a:t>
            </a:r>
            <a:endParaRPr lang="en-US" sz="4800" dirty="0"/>
          </a:p>
        </p:txBody>
      </p:sp>
      <p:sp>
        <p:nvSpPr>
          <p:cNvPr id="10" name="Text 8"/>
          <p:cNvSpPr/>
          <p:nvPr/>
        </p:nvSpPr>
        <p:spPr>
          <a:xfrm>
            <a:off x="9464040" y="2862072"/>
            <a:ext cx="1792224" cy="320040"/>
          </a:xfrm>
          <a:prstGeom prst="rect">
            <a:avLst/>
          </a:prstGeom>
          <a:noFill/>
          <a:ln/>
        </p:spPr>
        <p:txBody>
          <a:bodyPr wrap="square" lIns="0" tIns="0" rIns="0" bIns="0" rtlCol="0" anchor="t"/>
          <a:lstStyle/>
          <a:p>
            <a:pPr indent="0" marL="0">
              <a:buNone/>
            </a:pPr>
            <a:r>
              <a:rPr lang="en-US" sz="1800" dirty="0">
                <a:solidFill>
                  <a:srgbClr val="D2E0E1"/>
                </a:solidFill>
                <a:latin typeface="Lato" pitchFamily="34" charset="0"/>
                <a:ea typeface="Lato" pitchFamily="34" charset="-122"/>
                <a:cs typeface="Lato" pitchFamily="34" charset="-120"/>
              </a:rPr>
              <a:t>brief sessions</a:t>
            </a:r>
            <a:endParaRPr lang="en-US" sz="1800" dirty="0"/>
          </a:p>
        </p:txBody>
      </p:sp>
      <p:sp>
        <p:nvSpPr>
          <p:cNvPr id="11" name="Shape 9"/>
          <p:cNvSpPr/>
          <p:nvPr/>
        </p:nvSpPr>
        <p:spPr>
          <a:xfrm>
            <a:off x="9464040" y="3429000"/>
            <a:ext cx="1783080" cy="18288"/>
          </a:xfrm>
          <a:prstGeom prst="rect">
            <a:avLst/>
          </a:prstGeom>
          <a:solidFill>
            <a:srgbClr val="5B7D85"/>
          </a:solidFill>
          <a:ln w="6350">
            <a:solidFill>
              <a:srgbClr val="5B7D85"/>
            </a:solidFill>
            <a:prstDash val="solid"/>
          </a:ln>
        </p:spPr>
      </p:sp>
      <p:sp>
        <p:nvSpPr>
          <p:cNvPr id="12" name="Text 10"/>
          <p:cNvSpPr/>
          <p:nvPr/>
        </p:nvSpPr>
        <p:spPr>
          <a:xfrm>
            <a:off x="9464040" y="3767328"/>
            <a:ext cx="1810512" cy="393192"/>
          </a:xfrm>
          <a:prstGeom prst="rect">
            <a:avLst/>
          </a:prstGeom>
          <a:noFill/>
          <a:ln/>
        </p:spPr>
        <p:txBody>
          <a:bodyPr wrap="square" lIns="0" tIns="0" rIns="0" bIns="0" rtlCol="0" anchor="t"/>
          <a:lstStyle/>
          <a:p>
            <a:pPr indent="0" marL="0">
              <a:buNone/>
            </a:pPr>
            <a:r>
              <a:rPr lang="en-US" sz="1900" b="1" dirty="0">
                <a:solidFill>
                  <a:srgbClr val="FFFFFF"/>
                </a:solidFill>
                <a:latin typeface="Lato" pitchFamily="34" charset="0"/>
                <a:ea typeface="Lato" pitchFamily="34" charset="-122"/>
                <a:cs typeface="Lato" pitchFamily="34" charset="-120"/>
              </a:rPr>
              <a:t>Python first</a:t>
            </a:r>
            <a:endParaRPr lang="en-US" sz="1900" dirty="0"/>
          </a:p>
        </p:txBody>
      </p:sp>
      <p:sp>
        <p:nvSpPr>
          <p:cNvPr id="13" name="Text 11"/>
          <p:cNvSpPr/>
          <p:nvPr/>
        </p:nvSpPr>
        <p:spPr>
          <a:xfrm>
            <a:off x="9464040" y="4379976"/>
            <a:ext cx="1810512" cy="704088"/>
          </a:xfrm>
          <a:prstGeom prst="rect">
            <a:avLst/>
          </a:prstGeom>
          <a:noFill/>
          <a:ln/>
        </p:spPr>
        <p:txBody>
          <a:bodyPr wrap="square" lIns="0" tIns="0" rIns="0" bIns="0" rtlCol="0" anchor="t"/>
          <a:lstStyle/>
          <a:p>
            <a:pPr indent="0" marL="0">
              <a:buNone/>
            </a:pPr>
            <a:r>
              <a:rPr lang="en-US" sz="1800" dirty="0">
                <a:solidFill>
                  <a:srgbClr val="D2E0E1"/>
                </a:solidFill>
                <a:latin typeface="Lato" pitchFamily="34" charset="0"/>
                <a:ea typeface="Lato" pitchFamily="34" charset="-122"/>
                <a:cs typeface="Lato" pitchFamily="34" charset="-120"/>
              </a:rPr>
              <a:t>Model-neutral</a:t>
            </a:r>
            <a:endParaRPr lang="en-US" sz="1800" dirty="0"/>
          </a:p>
          <a:p>
            <a:pPr indent="0" marL="0">
              <a:buNone/>
            </a:pPr>
            <a:r>
              <a:rPr lang="en-US" sz="1800" dirty="0">
                <a:solidFill>
                  <a:srgbClr val="D2E0E1"/>
                </a:solidFill>
                <a:latin typeface="Lato" pitchFamily="34" charset="0"/>
                <a:ea typeface="Lato" pitchFamily="34" charset="-122"/>
                <a:cs typeface="Lato" pitchFamily="34" charset="-120"/>
              </a:rPr>
              <a:t>Evidence-led</a:t>
            </a:r>
            <a:endParaRPr lang="en-US" sz="1800" dirty="0"/>
          </a:p>
        </p:txBody>
      </p:sp>
      <p:sp>
        <p:nvSpPr>
          <p:cNvPr id="14" name="Text 12"/>
          <p:cNvSpPr/>
          <p:nvPr/>
        </p:nvSpPr>
        <p:spPr>
          <a:xfrm>
            <a:off x="685800" y="5943600"/>
            <a:ext cx="10789920" cy="274320"/>
          </a:xfrm>
          <a:prstGeom prst="rect">
            <a:avLst/>
          </a:prstGeom>
          <a:noFill/>
          <a:ln/>
        </p:spPr>
        <p:txBody>
          <a:bodyPr wrap="square" lIns="0" tIns="0" rIns="0" bIns="0" rtlCol="0" anchor="t"/>
          <a:lstStyle/>
          <a:p>
            <a:pPr indent="0" marL="0">
              <a:buNone/>
            </a:pPr>
            <a:r>
              <a:rPr lang="en-US" sz="1300" dirty="0">
                <a:solidFill>
                  <a:srgbClr val="D2E0E1"/>
                </a:solidFill>
                <a:latin typeface="Lato" pitchFamily="34" charset="0"/>
                <a:ea typeface="Lato" pitchFamily="34" charset="-122"/>
                <a:cs typeface="Lato" pitchFamily="34" charset="-120"/>
              </a:rPr>
              <a:t>Concept and sample learning aids for team review. Not an approved rollout.</a:t>
            </a:r>
            <a:endParaRPr lang="en-US" sz="1300" dirty="0"/>
          </a:p>
        </p:txBody>
      </p:sp>
      <p:sp>
        <p:nvSpPr>
          <p:cNvPr id="15" name="Shape 13"/>
          <p:cNvSpPr/>
          <p:nvPr/>
        </p:nvSpPr>
        <p:spPr>
          <a:xfrm>
            <a:off x="594360" y="6400800"/>
            <a:ext cx="11000232" cy="0"/>
          </a:xfrm>
          <a:prstGeom prst="line">
            <a:avLst/>
          </a:prstGeom>
          <a:noFill/>
          <a:ln w="8255">
            <a:solidFill>
              <a:srgbClr val="42626C"/>
            </a:solidFill>
            <a:prstDash val="solid"/>
          </a:ln>
        </p:spPr>
      </p:sp>
      <p:sp>
        <p:nvSpPr>
          <p:cNvPr id="16" name="Text 14"/>
          <p:cNvSpPr/>
          <p:nvPr/>
        </p:nvSpPr>
        <p:spPr>
          <a:xfrm>
            <a:off x="594360" y="6528816"/>
            <a:ext cx="8046720" cy="164592"/>
          </a:xfrm>
          <a:prstGeom prst="rect">
            <a:avLst/>
          </a:prstGeom>
          <a:noFill/>
          <a:ln/>
        </p:spPr>
        <p:txBody>
          <a:bodyPr wrap="square" lIns="0" tIns="0" rIns="0" bIns="0" rtlCol="0" anchor="t"/>
          <a:lstStyle/>
          <a:p>
            <a:pPr indent="0" marL="0">
              <a:buNone/>
            </a:pPr>
            <a:r>
              <a:rPr lang="en-US" sz="900" dirty="0">
                <a:solidFill>
                  <a:srgbClr val="BBCED0"/>
                </a:solidFill>
                <a:latin typeface="Lato" pitchFamily="34" charset="0"/>
                <a:ea typeface="Lato" pitchFamily="34" charset="-122"/>
                <a:cs typeface="Lato" pitchFamily="34" charset="-120"/>
              </a:rPr>
              <a:t>PILOT v0.1  |  TEAM REVIEW  |  25 SEP 2026</a:t>
            </a:r>
            <a:endParaRPr lang="en-US" sz="900" dirty="0"/>
          </a:p>
        </p:txBody>
      </p:sp>
      <p:sp>
        <p:nvSpPr>
          <p:cNvPr id="17" name="Text 15"/>
          <p:cNvSpPr/>
          <p:nvPr/>
        </p:nvSpPr>
        <p:spPr>
          <a:xfrm>
            <a:off x="10789920" y="6510528"/>
            <a:ext cx="777240" cy="192024"/>
          </a:xfrm>
          <a:prstGeom prst="rect">
            <a:avLst/>
          </a:prstGeom>
          <a:noFill/>
          <a:ln/>
        </p:spPr>
        <p:txBody>
          <a:bodyPr wrap="square" lIns="0" tIns="0" rIns="0" bIns="0" rtlCol="0" anchor="t"/>
          <a:lstStyle/>
          <a:p>
            <a:pPr algn="r" indent="0" marL="0">
              <a:buNone/>
            </a:pPr>
            <a:r>
              <a:rPr lang="en-US" sz="1000" dirty="0">
                <a:solidFill>
                  <a:srgbClr val="BBCED0"/>
                </a:solidFill>
                <a:latin typeface="Lato" pitchFamily="34" charset="0"/>
                <a:ea typeface="Lato" pitchFamily="34" charset="-122"/>
                <a:cs typeface="Lato" pitchFamily="34" charset="-120"/>
              </a:rPr>
              <a:t>01 / 08</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274320"/>
            <a:ext cx="7315200" cy="210312"/>
          </a:xfrm>
          <a:prstGeom prst="rect">
            <a:avLst/>
          </a:prstGeom>
          <a:noFill/>
          <a:ln/>
        </p:spPr>
        <p:txBody>
          <a:bodyPr wrap="square" lIns="0" tIns="0" rIns="0" bIns="0" rtlCol="0" anchor="t"/>
          <a:lstStyle/>
          <a:p>
            <a:pPr indent="0" marL="0">
              <a:buNone/>
            </a:pPr>
            <a:r>
              <a:rPr lang="en-US" sz="1000" b="1" dirty="0">
                <a:solidFill>
                  <a:srgbClr val="193D4D"/>
                </a:solidFill>
                <a:latin typeface="Lato" pitchFamily="34" charset="0"/>
                <a:ea typeface="Lato" pitchFamily="34" charset="-122"/>
                <a:cs typeface="Lato" pitchFamily="34" charset="-120"/>
              </a:rPr>
              <a:t>SAS TO PYTHON  /  LLM COLLABORATION</a:t>
            </a:r>
            <a:endParaRPr lang="en-US" sz="1000" dirty="0"/>
          </a:p>
        </p:txBody>
      </p:sp>
      <p:sp>
        <p:nvSpPr>
          <p:cNvPr id="3" name="Text 1"/>
          <p:cNvSpPr/>
          <p:nvPr/>
        </p:nvSpPr>
        <p:spPr>
          <a:xfrm>
            <a:off x="8229600" y="274320"/>
            <a:ext cx="3337560" cy="210312"/>
          </a:xfrm>
          <a:prstGeom prst="rect">
            <a:avLst/>
          </a:prstGeom>
          <a:noFill/>
          <a:ln/>
        </p:spPr>
        <p:txBody>
          <a:bodyPr wrap="square" lIns="0" tIns="0" rIns="0" bIns="0" rtlCol="0" anchor="t"/>
          <a:lstStyle/>
          <a:p>
            <a:pPr algn="r" indent="0" marL="0">
              <a:buNone/>
            </a:pPr>
            <a:r>
              <a:rPr lang="en-US" sz="1000" b="1" dirty="0">
                <a:solidFill>
                  <a:srgbClr val="187D7C"/>
                </a:solidFill>
                <a:latin typeface="Lato" pitchFamily="34" charset="0"/>
                <a:ea typeface="Lato" pitchFamily="34" charset="-122"/>
                <a:cs typeface="Lato" pitchFamily="34" charset="-120"/>
              </a:rPr>
              <a:t>THE ORGANIZING PRINCIPLE</a:t>
            </a:r>
            <a:endParaRPr lang="en-US" sz="1000" dirty="0"/>
          </a:p>
        </p:txBody>
      </p:sp>
      <p:sp>
        <p:nvSpPr>
          <p:cNvPr id="4" name="Text 2"/>
          <p:cNvSpPr/>
          <p:nvPr/>
        </p:nvSpPr>
        <p:spPr>
          <a:xfrm>
            <a:off x="594360" y="804672"/>
            <a:ext cx="10972800" cy="621792"/>
          </a:xfrm>
          <a:prstGeom prst="rect">
            <a:avLst/>
          </a:prstGeom>
          <a:noFill/>
          <a:ln/>
        </p:spPr>
        <p:txBody>
          <a:bodyPr wrap="square" lIns="0" tIns="0" rIns="0" bIns="0" rtlCol="0" anchor="t"/>
          <a:lstStyle/>
          <a:p>
            <a:pPr indent="0" marL="0">
              <a:buNone/>
            </a:pPr>
            <a:r>
              <a:rPr lang="en-US" sz="3100" b="1" dirty="0">
                <a:solidFill>
                  <a:srgbClr val="193D4D"/>
                </a:solidFill>
                <a:latin typeface="Lato" pitchFamily="34" charset="0"/>
                <a:ea typeface="Lato" pitchFamily="34" charset="-122"/>
                <a:cs typeface="Lato" pitchFamily="34" charset="-120"/>
              </a:rPr>
              <a:t>Reduce open choices. Make checks reproducible.</a:t>
            </a:r>
            <a:endParaRPr lang="en-US" sz="3100" dirty="0"/>
          </a:p>
        </p:txBody>
      </p:sp>
      <p:sp>
        <p:nvSpPr>
          <p:cNvPr id="5" name="Shape 3"/>
          <p:cNvSpPr/>
          <p:nvPr/>
        </p:nvSpPr>
        <p:spPr>
          <a:xfrm>
            <a:off x="594360" y="6400800"/>
            <a:ext cx="11000232" cy="0"/>
          </a:xfrm>
          <a:prstGeom prst="line">
            <a:avLst/>
          </a:prstGeom>
          <a:noFill/>
          <a:ln w="8255">
            <a:solidFill>
              <a:srgbClr val="D8E2E0"/>
            </a:solidFill>
            <a:prstDash val="solid"/>
          </a:ln>
        </p:spPr>
      </p:sp>
      <p:sp>
        <p:nvSpPr>
          <p:cNvPr id="6" name="Text 4"/>
          <p:cNvSpPr/>
          <p:nvPr/>
        </p:nvSpPr>
        <p:spPr>
          <a:xfrm>
            <a:off x="594360" y="6528816"/>
            <a:ext cx="8046720" cy="164592"/>
          </a:xfrm>
          <a:prstGeom prst="rect">
            <a:avLst/>
          </a:prstGeom>
          <a:noFill/>
          <a:ln/>
        </p:spPr>
        <p:txBody>
          <a:bodyPr wrap="square" lIns="0" tIns="0" rIns="0" bIns="0" rtlCol="0" anchor="t"/>
          <a:lstStyle/>
          <a:p>
            <a:pPr indent="0" marL="0">
              <a:buNone/>
            </a:pPr>
            <a:r>
              <a:rPr lang="en-US" sz="900" dirty="0">
                <a:solidFill>
                  <a:srgbClr val="61747C"/>
                </a:solidFill>
                <a:latin typeface="Lato" pitchFamily="34" charset="0"/>
                <a:ea typeface="Lato" pitchFamily="34" charset="-122"/>
                <a:cs typeface="Lato" pitchFamily="34" charset="-120"/>
              </a:rPr>
              <a:t>PILOT v0.1  |  TEAM REVIEW  |  25 SEP 2026</a:t>
            </a:r>
            <a:endParaRPr lang="en-US" sz="900" dirty="0"/>
          </a:p>
        </p:txBody>
      </p:sp>
      <p:sp>
        <p:nvSpPr>
          <p:cNvPr id="7" name="Text 5"/>
          <p:cNvSpPr/>
          <p:nvPr/>
        </p:nvSpPr>
        <p:spPr>
          <a:xfrm>
            <a:off x="10789920" y="6510528"/>
            <a:ext cx="777240" cy="192024"/>
          </a:xfrm>
          <a:prstGeom prst="rect">
            <a:avLst/>
          </a:prstGeom>
          <a:noFill/>
          <a:ln/>
        </p:spPr>
        <p:txBody>
          <a:bodyPr wrap="square" lIns="0" tIns="0" rIns="0" bIns="0" rtlCol="0" anchor="t"/>
          <a:lstStyle/>
          <a:p>
            <a:pPr algn="r" indent="0" marL="0">
              <a:buNone/>
            </a:pPr>
            <a:r>
              <a:rPr lang="en-US" sz="1000" dirty="0">
                <a:solidFill>
                  <a:srgbClr val="61747C"/>
                </a:solidFill>
                <a:latin typeface="Lato" pitchFamily="34" charset="0"/>
                <a:ea typeface="Lato" pitchFamily="34" charset="-122"/>
                <a:cs typeface="Lato" pitchFamily="34" charset="-120"/>
              </a:rPr>
              <a:t>02 / 08</a:t>
            </a:r>
            <a:endParaRPr lang="en-US" sz="1000" dirty="0"/>
          </a:p>
        </p:txBody>
      </p:sp>
      <p:sp>
        <p:nvSpPr>
          <p:cNvPr id="8" name="Shape 6"/>
          <p:cNvSpPr/>
          <p:nvPr/>
        </p:nvSpPr>
        <p:spPr>
          <a:xfrm>
            <a:off x="594360" y="1709928"/>
            <a:ext cx="11000232" cy="932688"/>
          </a:xfrm>
          <a:prstGeom prst="rect">
            <a:avLst/>
          </a:prstGeom>
          <a:solidFill>
            <a:srgbClr val="EAF4F1"/>
          </a:solidFill>
          <a:ln w="6350">
            <a:solidFill>
              <a:srgbClr val="EAF4F1"/>
            </a:solidFill>
            <a:prstDash val="solid"/>
          </a:ln>
        </p:spPr>
      </p:sp>
      <p:sp>
        <p:nvSpPr>
          <p:cNvPr id="9" name="Text 7"/>
          <p:cNvSpPr/>
          <p:nvPr/>
        </p:nvSpPr>
        <p:spPr>
          <a:xfrm>
            <a:off x="813816" y="1892808"/>
            <a:ext cx="10561320" cy="594360"/>
          </a:xfrm>
          <a:prstGeom prst="rect">
            <a:avLst/>
          </a:prstGeom>
          <a:noFill/>
          <a:ln/>
        </p:spPr>
        <p:txBody>
          <a:bodyPr wrap="square" lIns="0" tIns="0" rIns="0" bIns="0" rtlCol="0" anchor="t"/>
          <a:lstStyle/>
          <a:p>
            <a:pPr indent="0" marL="0">
              <a:buNone/>
            </a:pPr>
            <a:r>
              <a:rPr lang="en-US" sz="2300" b="1" dirty="0">
                <a:solidFill>
                  <a:srgbClr val="193D4D"/>
                </a:solidFill>
                <a:latin typeface="Lato" pitchFamily="34" charset="0"/>
                <a:ea typeface="Lato" pitchFamily="34" charset="-122"/>
                <a:cs typeface="Lato" pitchFamily="34" charset="-120"/>
              </a:rPr>
              <a:t>We are reducing unnecessary choices and building reproducible checks.</a:t>
            </a:r>
            <a:endParaRPr lang="en-US" sz="2300" dirty="0"/>
          </a:p>
          <a:p>
            <a:pPr indent="0" marL="0">
              <a:buNone/>
            </a:pPr>
            <a:r>
              <a:rPr lang="en-US" sz="2300" b="1" dirty="0">
                <a:solidFill>
                  <a:srgbClr val="193D4D"/>
                </a:solidFill>
                <a:latin typeface="Lato" pitchFamily="34" charset="0"/>
                <a:ea typeface="Lato" pitchFamily="34" charset="-122"/>
                <a:cs typeface="Lato" pitchFamily="34" charset="-120"/>
              </a:rPr>
              <a:t>We are not promising identical model responses.</a:t>
            </a:r>
            <a:endParaRPr lang="en-US" sz="2300" dirty="0"/>
          </a:p>
        </p:txBody>
      </p:sp>
      <p:sp>
        <p:nvSpPr>
          <p:cNvPr id="10" name="Shape 8"/>
          <p:cNvSpPr/>
          <p:nvPr/>
        </p:nvSpPr>
        <p:spPr>
          <a:xfrm>
            <a:off x="594360" y="3054096"/>
            <a:ext cx="2075688" cy="1938528"/>
          </a:xfrm>
          <a:prstGeom prst="rect">
            <a:avLst/>
          </a:prstGeom>
          <a:solidFill>
            <a:srgbClr val="FFFFFF"/>
          </a:solidFill>
          <a:ln w="6350">
            <a:solidFill>
              <a:srgbClr val="FFFFFF"/>
            </a:solidFill>
            <a:prstDash val="solid"/>
          </a:ln>
        </p:spPr>
      </p:sp>
      <p:sp>
        <p:nvSpPr>
          <p:cNvPr id="11" name="Text 9"/>
          <p:cNvSpPr/>
          <p:nvPr/>
        </p:nvSpPr>
        <p:spPr>
          <a:xfrm>
            <a:off x="740664" y="3209544"/>
            <a:ext cx="1783080" cy="219456"/>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01</a:t>
            </a:r>
            <a:endParaRPr lang="en-US" sz="1200" dirty="0"/>
          </a:p>
        </p:txBody>
      </p:sp>
      <p:sp>
        <p:nvSpPr>
          <p:cNvPr id="12" name="Text 10"/>
          <p:cNvSpPr/>
          <p:nvPr/>
        </p:nvSpPr>
        <p:spPr>
          <a:xfrm>
            <a:off x="740664" y="3639312"/>
            <a:ext cx="1783080" cy="329184"/>
          </a:xfrm>
          <a:prstGeom prst="rect">
            <a:avLst/>
          </a:prstGeom>
          <a:noFill/>
          <a:ln/>
        </p:spPr>
        <p:txBody>
          <a:bodyPr wrap="square" lIns="0" tIns="0" rIns="0" bIns="0" rtlCol="0" anchor="t"/>
          <a:lstStyle/>
          <a:p>
            <a:pPr indent="0" marL="0">
              <a:buNone/>
            </a:pPr>
            <a:r>
              <a:rPr lang="en-US" sz="2000" b="1" dirty="0">
                <a:solidFill>
                  <a:srgbClr val="193D4D"/>
                </a:solidFill>
                <a:latin typeface="Lato" pitchFamily="34" charset="0"/>
                <a:ea typeface="Lato" pitchFamily="34" charset="-122"/>
                <a:cs typeface="Lato" pitchFamily="34" charset="-120"/>
              </a:rPr>
              <a:t>Understand</a:t>
            </a:r>
            <a:endParaRPr lang="en-US" sz="2000" dirty="0"/>
          </a:p>
        </p:txBody>
      </p:sp>
      <p:sp>
        <p:nvSpPr>
          <p:cNvPr id="13" name="Text 11"/>
          <p:cNvSpPr/>
          <p:nvPr/>
        </p:nvSpPr>
        <p:spPr>
          <a:xfrm>
            <a:off x="740664" y="4096512"/>
            <a:ext cx="1783080" cy="685800"/>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Review what the SAS program does.</a:t>
            </a:r>
            <a:endParaRPr lang="en-US" sz="1600" dirty="0"/>
          </a:p>
        </p:txBody>
      </p:sp>
      <p:sp>
        <p:nvSpPr>
          <p:cNvPr id="14" name="Shape 12"/>
          <p:cNvSpPr/>
          <p:nvPr/>
        </p:nvSpPr>
        <p:spPr>
          <a:xfrm>
            <a:off x="2825496" y="3054096"/>
            <a:ext cx="2075688" cy="1938528"/>
          </a:xfrm>
          <a:prstGeom prst="rect">
            <a:avLst/>
          </a:prstGeom>
          <a:solidFill>
            <a:srgbClr val="FFFFFF"/>
          </a:solidFill>
          <a:ln w="6350">
            <a:solidFill>
              <a:srgbClr val="FFFFFF"/>
            </a:solidFill>
            <a:prstDash val="solid"/>
          </a:ln>
        </p:spPr>
      </p:sp>
      <p:sp>
        <p:nvSpPr>
          <p:cNvPr id="15" name="Text 13"/>
          <p:cNvSpPr/>
          <p:nvPr/>
        </p:nvSpPr>
        <p:spPr>
          <a:xfrm>
            <a:off x="2971800" y="3209544"/>
            <a:ext cx="1783080" cy="219456"/>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02</a:t>
            </a:r>
            <a:endParaRPr lang="en-US" sz="1200" dirty="0"/>
          </a:p>
        </p:txBody>
      </p:sp>
      <p:sp>
        <p:nvSpPr>
          <p:cNvPr id="16" name="Text 14"/>
          <p:cNvSpPr/>
          <p:nvPr/>
        </p:nvSpPr>
        <p:spPr>
          <a:xfrm>
            <a:off x="2971800" y="3639312"/>
            <a:ext cx="1783080" cy="329184"/>
          </a:xfrm>
          <a:prstGeom prst="rect">
            <a:avLst/>
          </a:prstGeom>
          <a:noFill/>
          <a:ln/>
        </p:spPr>
        <p:txBody>
          <a:bodyPr wrap="square" lIns="0" tIns="0" rIns="0" bIns="0" rtlCol="0" anchor="t"/>
          <a:lstStyle/>
          <a:p>
            <a:pPr indent="0" marL="0">
              <a:buNone/>
            </a:pPr>
            <a:r>
              <a:rPr lang="en-US" sz="2000" b="1" dirty="0">
                <a:solidFill>
                  <a:srgbClr val="193D4D"/>
                </a:solidFill>
                <a:latin typeface="Lato" pitchFamily="34" charset="0"/>
                <a:ea typeface="Lato" pitchFamily="34" charset="-122"/>
                <a:cs typeface="Lato" pitchFamily="34" charset="-120"/>
              </a:rPr>
              <a:t>Specify</a:t>
            </a:r>
            <a:endParaRPr lang="en-US" sz="2000" dirty="0"/>
          </a:p>
        </p:txBody>
      </p:sp>
      <p:sp>
        <p:nvSpPr>
          <p:cNvPr id="17" name="Text 15"/>
          <p:cNvSpPr/>
          <p:nvPr/>
        </p:nvSpPr>
        <p:spPr>
          <a:xfrm>
            <a:off x="2971800" y="4096512"/>
            <a:ext cx="1783080" cy="685800"/>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State the behavior and acceptance rules.</a:t>
            </a:r>
            <a:endParaRPr lang="en-US" sz="1600" dirty="0"/>
          </a:p>
        </p:txBody>
      </p:sp>
      <p:sp>
        <p:nvSpPr>
          <p:cNvPr id="18" name="Shape 16"/>
          <p:cNvSpPr/>
          <p:nvPr/>
        </p:nvSpPr>
        <p:spPr>
          <a:xfrm>
            <a:off x="5056632" y="3054096"/>
            <a:ext cx="2075688" cy="1938528"/>
          </a:xfrm>
          <a:prstGeom prst="rect">
            <a:avLst/>
          </a:prstGeom>
          <a:solidFill>
            <a:srgbClr val="FFFFFF"/>
          </a:solidFill>
          <a:ln w="6350">
            <a:solidFill>
              <a:srgbClr val="FFFFFF"/>
            </a:solidFill>
            <a:prstDash val="solid"/>
          </a:ln>
        </p:spPr>
      </p:sp>
      <p:sp>
        <p:nvSpPr>
          <p:cNvPr id="19" name="Text 17"/>
          <p:cNvSpPr/>
          <p:nvPr/>
        </p:nvSpPr>
        <p:spPr>
          <a:xfrm>
            <a:off x="5202936" y="3209544"/>
            <a:ext cx="1783080" cy="219456"/>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03</a:t>
            </a:r>
            <a:endParaRPr lang="en-US" sz="1200" dirty="0"/>
          </a:p>
        </p:txBody>
      </p:sp>
      <p:sp>
        <p:nvSpPr>
          <p:cNvPr id="20" name="Text 18"/>
          <p:cNvSpPr/>
          <p:nvPr/>
        </p:nvSpPr>
        <p:spPr>
          <a:xfrm>
            <a:off x="5202936" y="3639312"/>
            <a:ext cx="1783080" cy="329184"/>
          </a:xfrm>
          <a:prstGeom prst="rect">
            <a:avLst/>
          </a:prstGeom>
          <a:noFill/>
          <a:ln/>
        </p:spPr>
        <p:txBody>
          <a:bodyPr wrap="square" lIns="0" tIns="0" rIns="0" bIns="0" rtlCol="0" anchor="t"/>
          <a:lstStyle/>
          <a:p>
            <a:pPr indent="0" marL="0">
              <a:buNone/>
            </a:pPr>
            <a:r>
              <a:rPr lang="en-US" sz="2000" b="1" dirty="0">
                <a:solidFill>
                  <a:srgbClr val="193D4D"/>
                </a:solidFill>
                <a:latin typeface="Lato" pitchFamily="34" charset="0"/>
                <a:ea typeface="Lato" pitchFamily="34" charset="-122"/>
                <a:cs typeface="Lato" pitchFamily="34" charset="-120"/>
              </a:rPr>
              <a:t>Translate</a:t>
            </a:r>
            <a:endParaRPr lang="en-US" sz="2000" dirty="0"/>
          </a:p>
        </p:txBody>
      </p:sp>
      <p:sp>
        <p:nvSpPr>
          <p:cNvPr id="21" name="Text 19"/>
          <p:cNvSpPr/>
          <p:nvPr/>
        </p:nvSpPr>
        <p:spPr>
          <a:xfrm>
            <a:off x="5202936" y="4096512"/>
            <a:ext cx="1783080" cy="685800"/>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Implement one agreed unit in Python.</a:t>
            </a:r>
            <a:endParaRPr lang="en-US" sz="1600" dirty="0"/>
          </a:p>
        </p:txBody>
      </p:sp>
      <p:sp>
        <p:nvSpPr>
          <p:cNvPr id="22" name="Shape 20"/>
          <p:cNvSpPr/>
          <p:nvPr/>
        </p:nvSpPr>
        <p:spPr>
          <a:xfrm>
            <a:off x="7287768" y="3054096"/>
            <a:ext cx="2075688" cy="1938528"/>
          </a:xfrm>
          <a:prstGeom prst="rect">
            <a:avLst/>
          </a:prstGeom>
          <a:solidFill>
            <a:srgbClr val="FFFFFF"/>
          </a:solidFill>
          <a:ln w="6350">
            <a:solidFill>
              <a:srgbClr val="FFFFFF"/>
            </a:solidFill>
            <a:prstDash val="solid"/>
          </a:ln>
        </p:spPr>
      </p:sp>
      <p:sp>
        <p:nvSpPr>
          <p:cNvPr id="23" name="Text 21"/>
          <p:cNvSpPr/>
          <p:nvPr/>
        </p:nvSpPr>
        <p:spPr>
          <a:xfrm>
            <a:off x="7434072" y="3209544"/>
            <a:ext cx="1783080" cy="219456"/>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04</a:t>
            </a:r>
            <a:endParaRPr lang="en-US" sz="1200" dirty="0"/>
          </a:p>
        </p:txBody>
      </p:sp>
      <p:sp>
        <p:nvSpPr>
          <p:cNvPr id="24" name="Text 22"/>
          <p:cNvSpPr/>
          <p:nvPr/>
        </p:nvSpPr>
        <p:spPr>
          <a:xfrm>
            <a:off x="7434072" y="3639312"/>
            <a:ext cx="1783080" cy="329184"/>
          </a:xfrm>
          <a:prstGeom prst="rect">
            <a:avLst/>
          </a:prstGeom>
          <a:noFill/>
          <a:ln/>
        </p:spPr>
        <p:txBody>
          <a:bodyPr wrap="square" lIns="0" tIns="0" rIns="0" bIns="0" rtlCol="0" anchor="t"/>
          <a:lstStyle/>
          <a:p>
            <a:pPr indent="0" marL="0">
              <a:buNone/>
            </a:pPr>
            <a:r>
              <a:rPr lang="en-US" sz="2000" b="1" dirty="0">
                <a:solidFill>
                  <a:srgbClr val="193D4D"/>
                </a:solidFill>
                <a:latin typeface="Lato" pitchFamily="34" charset="0"/>
                <a:ea typeface="Lato" pitchFamily="34" charset="-122"/>
                <a:cs typeface="Lato" pitchFamily="34" charset="-120"/>
              </a:rPr>
              <a:t>Check</a:t>
            </a:r>
            <a:endParaRPr lang="en-US" sz="2000" dirty="0"/>
          </a:p>
        </p:txBody>
      </p:sp>
      <p:sp>
        <p:nvSpPr>
          <p:cNvPr id="25" name="Text 23"/>
          <p:cNvSpPr/>
          <p:nvPr/>
        </p:nvSpPr>
        <p:spPr>
          <a:xfrm>
            <a:off x="7434072" y="4096512"/>
            <a:ext cx="1783080" cy="685800"/>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Run reviewed code against expectations.</a:t>
            </a:r>
            <a:endParaRPr lang="en-US" sz="1600" dirty="0"/>
          </a:p>
        </p:txBody>
      </p:sp>
      <p:sp>
        <p:nvSpPr>
          <p:cNvPr id="26" name="Shape 24"/>
          <p:cNvSpPr/>
          <p:nvPr/>
        </p:nvSpPr>
        <p:spPr>
          <a:xfrm>
            <a:off x="9518904" y="3054096"/>
            <a:ext cx="2075688" cy="1938528"/>
          </a:xfrm>
          <a:prstGeom prst="rect">
            <a:avLst/>
          </a:prstGeom>
          <a:solidFill>
            <a:srgbClr val="FFFFFF"/>
          </a:solidFill>
          <a:ln w="6350">
            <a:solidFill>
              <a:srgbClr val="FFFFFF"/>
            </a:solidFill>
            <a:prstDash val="solid"/>
          </a:ln>
        </p:spPr>
      </p:sp>
      <p:sp>
        <p:nvSpPr>
          <p:cNvPr id="27" name="Text 25"/>
          <p:cNvSpPr/>
          <p:nvPr/>
        </p:nvSpPr>
        <p:spPr>
          <a:xfrm>
            <a:off x="9665208" y="3209544"/>
            <a:ext cx="1783080" cy="219456"/>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05</a:t>
            </a:r>
            <a:endParaRPr lang="en-US" sz="1200" dirty="0"/>
          </a:p>
        </p:txBody>
      </p:sp>
      <p:sp>
        <p:nvSpPr>
          <p:cNvPr id="28" name="Text 26"/>
          <p:cNvSpPr/>
          <p:nvPr/>
        </p:nvSpPr>
        <p:spPr>
          <a:xfrm>
            <a:off x="9665208" y="3639312"/>
            <a:ext cx="1783080" cy="329184"/>
          </a:xfrm>
          <a:prstGeom prst="rect">
            <a:avLst/>
          </a:prstGeom>
          <a:noFill/>
          <a:ln/>
        </p:spPr>
        <p:txBody>
          <a:bodyPr wrap="square" lIns="0" tIns="0" rIns="0" bIns="0" rtlCol="0" anchor="t"/>
          <a:lstStyle/>
          <a:p>
            <a:pPr indent="0" marL="0">
              <a:buNone/>
            </a:pPr>
            <a:r>
              <a:rPr lang="en-US" sz="2000" b="1" dirty="0">
                <a:solidFill>
                  <a:srgbClr val="193D4D"/>
                </a:solidFill>
                <a:latin typeface="Lato" pitchFamily="34" charset="0"/>
                <a:ea typeface="Lato" pitchFamily="34" charset="-122"/>
                <a:cs typeface="Lato" pitchFamily="34" charset="-120"/>
              </a:rPr>
              <a:t>Improve</a:t>
            </a:r>
            <a:endParaRPr lang="en-US" sz="2000" dirty="0"/>
          </a:p>
        </p:txBody>
      </p:sp>
      <p:sp>
        <p:nvSpPr>
          <p:cNvPr id="29" name="Text 27"/>
          <p:cNvSpPr/>
          <p:nvPr/>
        </p:nvSpPr>
        <p:spPr>
          <a:xfrm>
            <a:off x="9665208" y="4096512"/>
            <a:ext cx="1783080" cy="685800"/>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Refactor only from a checked baseline.</a:t>
            </a:r>
            <a:endParaRPr lang="en-US" sz="1600" dirty="0"/>
          </a:p>
        </p:txBody>
      </p:sp>
      <p:sp>
        <p:nvSpPr>
          <p:cNvPr id="30" name="Text 28"/>
          <p:cNvSpPr/>
          <p:nvPr/>
        </p:nvSpPr>
        <p:spPr>
          <a:xfrm>
            <a:off x="594360" y="5404104"/>
            <a:ext cx="10972800" cy="438912"/>
          </a:xfrm>
          <a:prstGeom prst="rect">
            <a:avLst/>
          </a:prstGeom>
          <a:noFill/>
          <a:ln/>
        </p:spPr>
        <p:txBody>
          <a:bodyPr wrap="square" lIns="0" tIns="0" rIns="0" bIns="0" rtlCol="0" anchor="t"/>
          <a:lstStyle/>
          <a:p>
            <a:pPr indent="0" marL="0">
              <a:buNone/>
            </a:pPr>
            <a:r>
              <a:rPr lang="en-US" sz="2000" b="1" dirty="0">
                <a:solidFill>
                  <a:srgbClr val="193D4D"/>
                </a:solidFill>
                <a:latin typeface="Lato" pitchFamily="34" charset="0"/>
                <a:ea typeface="Lato" pitchFamily="34" charset="-122"/>
                <a:cs typeface="Lato" pitchFamily="34" charset="-120"/>
              </a:rPr>
              <a:t>A different implementation can pass. A repeated implementation can still be wrong.</a:t>
            </a:r>
            <a:endParaRPr lang="en-US" sz="2000" dirty="0"/>
          </a:p>
        </p:txBody>
      </p:sp>
      <p:sp>
        <p:nvSpPr>
          <p:cNvPr id="31" name="Text 29"/>
          <p:cNvSpPr/>
          <p:nvPr/>
        </p:nvSpPr>
        <p:spPr>
          <a:xfrm>
            <a:off x="594360" y="5925312"/>
            <a:ext cx="10972800" cy="256032"/>
          </a:xfrm>
          <a:prstGeom prst="rect">
            <a:avLst/>
          </a:prstGeom>
          <a:noFill/>
          <a:ln/>
        </p:spPr>
        <p:txBody>
          <a:bodyPr wrap="square" lIns="0" tIns="0" rIns="0" bIns="0" rtlCol="0" anchor="t"/>
          <a:lstStyle/>
          <a:p>
            <a:pPr indent="0" marL="0">
              <a:buNone/>
            </a:pPr>
            <a:r>
              <a:rPr lang="en-US" sz="1500" dirty="0">
                <a:solidFill>
                  <a:srgbClr val="61747C"/>
                </a:solidFill>
                <a:latin typeface="Lato" pitchFamily="34" charset="0"/>
                <a:ea typeface="Lato" pitchFamily="34" charset="-122"/>
                <a:cs typeface="Lato" pitchFamily="34" charset="-120"/>
              </a:rPr>
              <a:t>The acceptance decision belongs to the analyst and is limited to the stated scope.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274320"/>
            <a:ext cx="7315200" cy="210312"/>
          </a:xfrm>
          <a:prstGeom prst="rect">
            <a:avLst/>
          </a:prstGeom>
          <a:noFill/>
          <a:ln/>
        </p:spPr>
        <p:txBody>
          <a:bodyPr wrap="square" lIns="0" tIns="0" rIns="0" bIns="0" rtlCol="0" anchor="t"/>
          <a:lstStyle/>
          <a:p>
            <a:pPr indent="0" marL="0">
              <a:buNone/>
            </a:pPr>
            <a:r>
              <a:rPr lang="en-US" sz="1000" b="1" dirty="0">
                <a:solidFill>
                  <a:srgbClr val="193D4D"/>
                </a:solidFill>
                <a:latin typeface="Lato" pitchFamily="34" charset="0"/>
                <a:ea typeface="Lato" pitchFamily="34" charset="-122"/>
                <a:cs typeface="Lato" pitchFamily="34" charset="-120"/>
              </a:rPr>
              <a:t>SAS TO PYTHON  /  LLM COLLABORATION</a:t>
            </a:r>
            <a:endParaRPr lang="en-US" sz="1000" dirty="0"/>
          </a:p>
        </p:txBody>
      </p:sp>
      <p:sp>
        <p:nvSpPr>
          <p:cNvPr id="3" name="Text 1"/>
          <p:cNvSpPr/>
          <p:nvPr/>
        </p:nvSpPr>
        <p:spPr>
          <a:xfrm>
            <a:off x="8229600" y="274320"/>
            <a:ext cx="3337560" cy="210312"/>
          </a:xfrm>
          <a:prstGeom prst="rect">
            <a:avLst/>
          </a:prstGeom>
          <a:noFill/>
          <a:ln/>
        </p:spPr>
        <p:txBody>
          <a:bodyPr wrap="square" lIns="0" tIns="0" rIns="0" bIns="0" rtlCol="0" anchor="t"/>
          <a:lstStyle/>
          <a:p>
            <a:pPr algn="r" indent="0" marL="0">
              <a:buNone/>
            </a:pPr>
            <a:r>
              <a:rPr lang="en-US" sz="1000" b="1" dirty="0">
                <a:solidFill>
                  <a:srgbClr val="187D7C"/>
                </a:solidFill>
                <a:latin typeface="Lato" pitchFamily="34" charset="0"/>
                <a:ea typeface="Lato" pitchFamily="34" charset="-122"/>
                <a:cs typeface="Lato" pitchFamily="34" charset="-120"/>
              </a:rPr>
              <a:t>PROPOSED DELIVERY</a:t>
            </a:r>
            <a:endParaRPr lang="en-US" sz="1000" dirty="0"/>
          </a:p>
        </p:txBody>
      </p:sp>
      <p:sp>
        <p:nvSpPr>
          <p:cNvPr id="4" name="Text 2"/>
          <p:cNvSpPr/>
          <p:nvPr/>
        </p:nvSpPr>
        <p:spPr>
          <a:xfrm>
            <a:off x="594360" y="804672"/>
            <a:ext cx="10972800" cy="621792"/>
          </a:xfrm>
          <a:prstGeom prst="rect">
            <a:avLst/>
          </a:prstGeom>
          <a:noFill/>
          <a:ln/>
        </p:spPr>
        <p:txBody>
          <a:bodyPr wrap="square" lIns="0" tIns="0" rIns="0" bIns="0" rtlCol="0" anchor="t"/>
          <a:lstStyle/>
          <a:p>
            <a:pPr indent="0" marL="0">
              <a:buNone/>
            </a:pPr>
            <a:r>
              <a:rPr lang="en-US" sz="3100" b="1" dirty="0">
                <a:solidFill>
                  <a:srgbClr val="193D4D"/>
                </a:solidFill>
                <a:latin typeface="Lato" pitchFamily="34" charset="0"/>
                <a:ea typeface="Lato" pitchFamily="34" charset="-122"/>
                <a:cs typeface="Lato" pitchFamily="34" charset="-120"/>
              </a:rPr>
              <a:t>Four brief sessions, four visible outcomes</a:t>
            </a:r>
            <a:endParaRPr lang="en-US" sz="3100" dirty="0"/>
          </a:p>
        </p:txBody>
      </p:sp>
      <p:sp>
        <p:nvSpPr>
          <p:cNvPr id="5" name="Text 3"/>
          <p:cNvSpPr/>
          <p:nvPr/>
        </p:nvSpPr>
        <p:spPr>
          <a:xfrm>
            <a:off x="594360" y="1426464"/>
            <a:ext cx="10972800" cy="402336"/>
          </a:xfrm>
          <a:prstGeom prst="rect">
            <a:avLst/>
          </a:prstGeom>
          <a:noFill/>
          <a:ln/>
        </p:spPr>
        <p:txBody>
          <a:bodyPr wrap="square" lIns="0" tIns="0" rIns="0" bIns="0" rtlCol="0" anchor="t"/>
          <a:lstStyle/>
          <a:p>
            <a:pPr indent="0" marL="0">
              <a:buNone/>
            </a:pPr>
            <a:r>
              <a:rPr lang="en-US" sz="1600" dirty="0">
                <a:solidFill>
                  <a:srgbClr val="61747C"/>
                </a:solidFill>
                <a:latin typeface="Lato" pitchFamily="34" charset="0"/>
                <a:ea typeface="Lato" pitchFamily="34" charset="-122"/>
                <a:cs typeface="Lato" pitchFamily="34" charset="-120"/>
              </a:rPr>
              <a:t>Approximately 25 minutes each. Access and basic environment setup happen before class.</a:t>
            </a:r>
            <a:endParaRPr lang="en-US" sz="1600" dirty="0"/>
          </a:p>
        </p:txBody>
      </p:sp>
      <p:sp>
        <p:nvSpPr>
          <p:cNvPr id="6" name="Shape 4"/>
          <p:cNvSpPr/>
          <p:nvPr/>
        </p:nvSpPr>
        <p:spPr>
          <a:xfrm>
            <a:off x="594360" y="6400800"/>
            <a:ext cx="11000232" cy="0"/>
          </a:xfrm>
          <a:prstGeom prst="line">
            <a:avLst/>
          </a:prstGeom>
          <a:noFill/>
          <a:ln w="8255">
            <a:solidFill>
              <a:srgbClr val="D8E2E0"/>
            </a:solidFill>
            <a:prstDash val="solid"/>
          </a:ln>
        </p:spPr>
      </p:sp>
      <p:sp>
        <p:nvSpPr>
          <p:cNvPr id="7" name="Text 5"/>
          <p:cNvSpPr/>
          <p:nvPr/>
        </p:nvSpPr>
        <p:spPr>
          <a:xfrm>
            <a:off x="594360" y="6528816"/>
            <a:ext cx="8046720" cy="164592"/>
          </a:xfrm>
          <a:prstGeom prst="rect">
            <a:avLst/>
          </a:prstGeom>
          <a:noFill/>
          <a:ln/>
        </p:spPr>
        <p:txBody>
          <a:bodyPr wrap="square" lIns="0" tIns="0" rIns="0" bIns="0" rtlCol="0" anchor="t"/>
          <a:lstStyle/>
          <a:p>
            <a:pPr indent="0" marL="0">
              <a:buNone/>
            </a:pPr>
            <a:r>
              <a:rPr lang="en-US" sz="900" dirty="0">
                <a:solidFill>
                  <a:srgbClr val="61747C"/>
                </a:solidFill>
                <a:latin typeface="Lato" pitchFamily="34" charset="0"/>
                <a:ea typeface="Lato" pitchFamily="34" charset="-122"/>
                <a:cs typeface="Lato" pitchFamily="34" charset="-120"/>
              </a:rPr>
              <a:t>PILOT v0.1  |  TEAM REVIEW  |  25 SEP 2026</a:t>
            </a:r>
            <a:endParaRPr lang="en-US" sz="900" dirty="0"/>
          </a:p>
        </p:txBody>
      </p:sp>
      <p:sp>
        <p:nvSpPr>
          <p:cNvPr id="8" name="Text 6"/>
          <p:cNvSpPr/>
          <p:nvPr/>
        </p:nvSpPr>
        <p:spPr>
          <a:xfrm>
            <a:off x="10789920" y="6510528"/>
            <a:ext cx="777240" cy="192024"/>
          </a:xfrm>
          <a:prstGeom prst="rect">
            <a:avLst/>
          </a:prstGeom>
          <a:noFill/>
          <a:ln/>
        </p:spPr>
        <p:txBody>
          <a:bodyPr wrap="square" lIns="0" tIns="0" rIns="0" bIns="0" rtlCol="0" anchor="t"/>
          <a:lstStyle/>
          <a:p>
            <a:pPr algn="r" indent="0" marL="0">
              <a:buNone/>
            </a:pPr>
            <a:r>
              <a:rPr lang="en-US" sz="1000" dirty="0">
                <a:solidFill>
                  <a:srgbClr val="61747C"/>
                </a:solidFill>
                <a:latin typeface="Lato" pitchFamily="34" charset="0"/>
                <a:ea typeface="Lato" pitchFamily="34" charset="-122"/>
                <a:cs typeface="Lato" pitchFamily="34" charset="-120"/>
              </a:rPr>
              <a:t>03 / 08</a:t>
            </a:r>
            <a:endParaRPr lang="en-US" sz="1000" dirty="0"/>
          </a:p>
        </p:txBody>
      </p:sp>
      <p:sp>
        <p:nvSpPr>
          <p:cNvPr id="9" name="Text 7"/>
          <p:cNvSpPr/>
          <p:nvPr/>
        </p:nvSpPr>
        <p:spPr>
          <a:xfrm>
            <a:off x="749808" y="1901952"/>
            <a:ext cx="5303520" cy="182880"/>
          </a:xfrm>
          <a:prstGeom prst="rect">
            <a:avLst/>
          </a:prstGeom>
          <a:noFill/>
          <a:ln/>
        </p:spPr>
        <p:txBody>
          <a:bodyPr wrap="square" lIns="0" tIns="0" rIns="0" bIns="0" rtlCol="0" anchor="t"/>
          <a:lstStyle/>
          <a:p>
            <a:pPr indent="0" marL="0">
              <a:buNone/>
            </a:pPr>
            <a:r>
              <a:rPr lang="en-US" sz="1100" b="1" dirty="0">
                <a:solidFill>
                  <a:srgbClr val="187D7C"/>
                </a:solidFill>
                <a:latin typeface="Lato" pitchFamily="34" charset="0"/>
                <a:ea typeface="Lato" pitchFamily="34" charset="-122"/>
                <a:cs typeface="Lato" pitchFamily="34" charset="-120"/>
              </a:rPr>
              <a:t>SESSION</a:t>
            </a:r>
            <a:endParaRPr lang="en-US" sz="1100" dirty="0"/>
          </a:p>
        </p:txBody>
      </p:sp>
      <p:sp>
        <p:nvSpPr>
          <p:cNvPr id="10" name="Text 8"/>
          <p:cNvSpPr/>
          <p:nvPr/>
        </p:nvSpPr>
        <p:spPr>
          <a:xfrm>
            <a:off x="6172200" y="1901952"/>
            <a:ext cx="5120640" cy="182880"/>
          </a:xfrm>
          <a:prstGeom prst="rect">
            <a:avLst/>
          </a:prstGeom>
          <a:noFill/>
          <a:ln/>
        </p:spPr>
        <p:txBody>
          <a:bodyPr wrap="square" lIns="0" tIns="0" rIns="0" bIns="0" rtlCol="0" anchor="t"/>
          <a:lstStyle/>
          <a:p>
            <a:pPr indent="0" marL="0">
              <a:buNone/>
            </a:pPr>
            <a:r>
              <a:rPr lang="en-US" sz="1100" b="1" dirty="0">
                <a:solidFill>
                  <a:srgbClr val="187D7C"/>
                </a:solidFill>
                <a:latin typeface="Lato" pitchFamily="34" charset="0"/>
                <a:ea typeface="Lato" pitchFamily="34" charset="-122"/>
                <a:cs typeface="Lato" pitchFamily="34" charset="-120"/>
              </a:rPr>
              <a:t>WHAT THE LEARNER PRODUCES</a:t>
            </a:r>
            <a:endParaRPr lang="en-US" sz="1100" dirty="0"/>
          </a:p>
        </p:txBody>
      </p:sp>
      <p:sp>
        <p:nvSpPr>
          <p:cNvPr id="11" name="Shape 9"/>
          <p:cNvSpPr/>
          <p:nvPr/>
        </p:nvSpPr>
        <p:spPr>
          <a:xfrm>
            <a:off x="594360" y="2103120"/>
            <a:ext cx="11000232" cy="713232"/>
          </a:xfrm>
          <a:prstGeom prst="rect">
            <a:avLst/>
          </a:prstGeom>
          <a:solidFill>
            <a:srgbClr val="EAF4F1"/>
          </a:solidFill>
          <a:ln w="6350">
            <a:solidFill>
              <a:srgbClr val="EAF4F1"/>
            </a:solidFill>
            <a:prstDash val="solid"/>
          </a:ln>
        </p:spPr>
      </p:sp>
      <p:sp>
        <p:nvSpPr>
          <p:cNvPr id="12" name="Text 10"/>
          <p:cNvSpPr/>
          <p:nvPr/>
        </p:nvSpPr>
        <p:spPr>
          <a:xfrm>
            <a:off x="768096" y="2267712"/>
            <a:ext cx="530352" cy="356616"/>
          </a:xfrm>
          <a:prstGeom prst="rect">
            <a:avLst/>
          </a:prstGeom>
          <a:noFill/>
          <a:ln/>
        </p:spPr>
        <p:txBody>
          <a:bodyPr wrap="square" lIns="0" tIns="0" rIns="0" bIns="0" rtlCol="0" anchor="t"/>
          <a:lstStyle/>
          <a:p>
            <a:pPr indent="0" marL="0">
              <a:buNone/>
            </a:pPr>
            <a:r>
              <a:rPr lang="en-US" sz="2400" b="1" dirty="0">
                <a:solidFill>
                  <a:srgbClr val="187D7C"/>
                </a:solidFill>
                <a:latin typeface="Lato" pitchFamily="34" charset="0"/>
                <a:ea typeface="Lato" pitchFamily="34" charset="-122"/>
                <a:cs typeface="Lato" pitchFamily="34" charset="-120"/>
              </a:rPr>
              <a:t>01</a:t>
            </a:r>
            <a:endParaRPr lang="en-US" sz="2400" dirty="0"/>
          </a:p>
        </p:txBody>
      </p:sp>
      <p:sp>
        <p:nvSpPr>
          <p:cNvPr id="13" name="Text 11"/>
          <p:cNvSpPr/>
          <p:nvPr/>
        </p:nvSpPr>
        <p:spPr>
          <a:xfrm>
            <a:off x="1426464" y="2276856"/>
            <a:ext cx="4434840" cy="374904"/>
          </a:xfrm>
          <a:prstGeom prst="rect">
            <a:avLst/>
          </a:prstGeom>
          <a:noFill/>
          <a:ln/>
        </p:spPr>
        <p:txBody>
          <a:bodyPr wrap="square" lIns="0" tIns="0" rIns="0" bIns="0" rtlCol="0" anchor="t"/>
          <a:lstStyle/>
          <a:p>
            <a:pPr indent="0" marL="0">
              <a:buNone/>
            </a:pPr>
            <a:r>
              <a:rPr lang="en-US" sz="2100" b="1" dirty="0">
                <a:solidFill>
                  <a:srgbClr val="193D4D"/>
                </a:solidFill>
                <a:latin typeface="Lato" pitchFamily="34" charset="0"/>
                <a:ea typeface="Lato" pitchFamily="34" charset="-122"/>
                <a:cs typeface="Lato" pitchFamily="34" charset="-120"/>
              </a:rPr>
              <a:t>Read before you rewrite</a:t>
            </a:r>
            <a:endParaRPr lang="en-US" sz="2100" dirty="0"/>
          </a:p>
        </p:txBody>
      </p:sp>
      <p:sp>
        <p:nvSpPr>
          <p:cNvPr id="14" name="Text 12"/>
          <p:cNvSpPr/>
          <p:nvPr/>
        </p:nvSpPr>
        <p:spPr>
          <a:xfrm>
            <a:off x="6172200" y="2240280"/>
            <a:ext cx="5102352"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A reviewed explanation and an unresolved-dependency list.</a:t>
            </a:r>
            <a:endParaRPr lang="en-US" sz="1700" dirty="0"/>
          </a:p>
        </p:txBody>
      </p:sp>
      <p:sp>
        <p:nvSpPr>
          <p:cNvPr id="15" name="Shape 13"/>
          <p:cNvSpPr/>
          <p:nvPr/>
        </p:nvSpPr>
        <p:spPr>
          <a:xfrm>
            <a:off x="594360" y="2926080"/>
            <a:ext cx="11000232" cy="713232"/>
          </a:xfrm>
          <a:prstGeom prst="rect">
            <a:avLst/>
          </a:prstGeom>
          <a:solidFill>
            <a:srgbClr val="FFFFFF"/>
          </a:solidFill>
          <a:ln w="6350">
            <a:solidFill>
              <a:srgbClr val="FFFFFF"/>
            </a:solidFill>
            <a:prstDash val="solid"/>
          </a:ln>
        </p:spPr>
      </p:sp>
      <p:sp>
        <p:nvSpPr>
          <p:cNvPr id="16" name="Text 14"/>
          <p:cNvSpPr/>
          <p:nvPr/>
        </p:nvSpPr>
        <p:spPr>
          <a:xfrm>
            <a:off x="768096" y="3090672"/>
            <a:ext cx="530352" cy="356616"/>
          </a:xfrm>
          <a:prstGeom prst="rect">
            <a:avLst/>
          </a:prstGeom>
          <a:noFill/>
          <a:ln/>
        </p:spPr>
        <p:txBody>
          <a:bodyPr wrap="square" lIns="0" tIns="0" rIns="0" bIns="0" rtlCol="0" anchor="t"/>
          <a:lstStyle/>
          <a:p>
            <a:pPr indent="0" marL="0">
              <a:buNone/>
            </a:pPr>
            <a:r>
              <a:rPr lang="en-US" sz="2400" b="1" dirty="0">
                <a:solidFill>
                  <a:srgbClr val="187D7C"/>
                </a:solidFill>
                <a:latin typeface="Lato" pitchFamily="34" charset="0"/>
                <a:ea typeface="Lato" pitchFamily="34" charset="-122"/>
                <a:cs typeface="Lato" pitchFamily="34" charset="-120"/>
              </a:rPr>
              <a:t>02</a:t>
            </a:r>
            <a:endParaRPr lang="en-US" sz="2400" dirty="0"/>
          </a:p>
        </p:txBody>
      </p:sp>
      <p:sp>
        <p:nvSpPr>
          <p:cNvPr id="17" name="Text 15"/>
          <p:cNvSpPr/>
          <p:nvPr/>
        </p:nvSpPr>
        <p:spPr>
          <a:xfrm>
            <a:off x="1426464" y="3099816"/>
            <a:ext cx="4434840" cy="374904"/>
          </a:xfrm>
          <a:prstGeom prst="rect">
            <a:avLst/>
          </a:prstGeom>
          <a:noFill/>
          <a:ln/>
        </p:spPr>
        <p:txBody>
          <a:bodyPr wrap="square" lIns="0" tIns="0" rIns="0" bIns="0" rtlCol="0" anchor="t"/>
          <a:lstStyle/>
          <a:p>
            <a:pPr indent="0" marL="0">
              <a:buNone/>
            </a:pPr>
            <a:r>
              <a:rPr lang="en-US" sz="2100" b="1" dirty="0">
                <a:solidFill>
                  <a:srgbClr val="193D4D"/>
                </a:solidFill>
                <a:latin typeface="Lato" pitchFamily="34" charset="0"/>
                <a:ea typeface="Lato" pitchFamily="34" charset="-122"/>
                <a:cs typeface="Lato" pitchFamily="34" charset="-120"/>
              </a:rPr>
              <a:t>Ask for the behavior you need</a:t>
            </a:r>
            <a:endParaRPr lang="en-US" sz="2100" dirty="0"/>
          </a:p>
        </p:txBody>
      </p:sp>
      <p:sp>
        <p:nvSpPr>
          <p:cNvPr id="18" name="Text 16"/>
          <p:cNvSpPr/>
          <p:nvPr/>
        </p:nvSpPr>
        <p:spPr>
          <a:xfrm>
            <a:off x="6172200" y="3063240"/>
            <a:ext cx="5102352"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A bounded MEAN translation request and candidate code.</a:t>
            </a:r>
            <a:endParaRPr lang="en-US" sz="1700" dirty="0"/>
          </a:p>
        </p:txBody>
      </p:sp>
      <p:sp>
        <p:nvSpPr>
          <p:cNvPr id="19" name="Shape 17"/>
          <p:cNvSpPr/>
          <p:nvPr/>
        </p:nvSpPr>
        <p:spPr>
          <a:xfrm>
            <a:off x="594360" y="3749040"/>
            <a:ext cx="11000232" cy="713232"/>
          </a:xfrm>
          <a:prstGeom prst="rect">
            <a:avLst/>
          </a:prstGeom>
          <a:solidFill>
            <a:srgbClr val="EAF4F1"/>
          </a:solidFill>
          <a:ln w="6350">
            <a:solidFill>
              <a:srgbClr val="EAF4F1"/>
            </a:solidFill>
            <a:prstDash val="solid"/>
          </a:ln>
        </p:spPr>
      </p:sp>
      <p:sp>
        <p:nvSpPr>
          <p:cNvPr id="20" name="Text 18"/>
          <p:cNvSpPr/>
          <p:nvPr/>
        </p:nvSpPr>
        <p:spPr>
          <a:xfrm>
            <a:off x="768096" y="3913632"/>
            <a:ext cx="530352" cy="356616"/>
          </a:xfrm>
          <a:prstGeom prst="rect">
            <a:avLst/>
          </a:prstGeom>
          <a:noFill/>
          <a:ln/>
        </p:spPr>
        <p:txBody>
          <a:bodyPr wrap="square" lIns="0" tIns="0" rIns="0" bIns="0" rtlCol="0" anchor="t"/>
          <a:lstStyle/>
          <a:p>
            <a:pPr indent="0" marL="0">
              <a:buNone/>
            </a:pPr>
            <a:r>
              <a:rPr lang="en-US" sz="2400" b="1" dirty="0">
                <a:solidFill>
                  <a:srgbClr val="187D7C"/>
                </a:solidFill>
                <a:latin typeface="Lato" pitchFamily="34" charset="0"/>
                <a:ea typeface="Lato" pitchFamily="34" charset="-122"/>
                <a:cs typeface="Lato" pitchFamily="34" charset="-120"/>
              </a:rPr>
              <a:t>03</a:t>
            </a:r>
            <a:endParaRPr lang="en-US" sz="2400" dirty="0"/>
          </a:p>
        </p:txBody>
      </p:sp>
      <p:sp>
        <p:nvSpPr>
          <p:cNvPr id="21" name="Text 19"/>
          <p:cNvSpPr/>
          <p:nvPr/>
        </p:nvSpPr>
        <p:spPr>
          <a:xfrm>
            <a:off x="1426464" y="3922776"/>
            <a:ext cx="4434840" cy="374904"/>
          </a:xfrm>
          <a:prstGeom prst="rect">
            <a:avLst/>
          </a:prstGeom>
          <a:noFill/>
          <a:ln/>
        </p:spPr>
        <p:txBody>
          <a:bodyPr wrap="square" lIns="0" tIns="0" rIns="0" bIns="0" rtlCol="0" anchor="t"/>
          <a:lstStyle/>
          <a:p>
            <a:pPr indent="0" marL="0">
              <a:buNone/>
            </a:pPr>
            <a:r>
              <a:rPr lang="en-US" sz="2100" b="1" dirty="0">
                <a:solidFill>
                  <a:srgbClr val="193D4D"/>
                </a:solidFill>
                <a:latin typeface="Lato" pitchFamily="34" charset="0"/>
                <a:ea typeface="Lato" pitchFamily="34" charset="-122"/>
                <a:cs typeface="Lato" pitchFamily="34" charset="-120"/>
              </a:rPr>
              <a:t>Check more than “it runs”</a:t>
            </a:r>
            <a:endParaRPr lang="en-US" sz="2100" dirty="0"/>
          </a:p>
        </p:txBody>
      </p:sp>
      <p:sp>
        <p:nvSpPr>
          <p:cNvPr id="22" name="Text 20"/>
          <p:cNvSpPr/>
          <p:nvPr/>
        </p:nvSpPr>
        <p:spPr>
          <a:xfrm>
            <a:off x="6172200" y="3886200"/>
            <a:ext cx="5102352"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An evidence record using SUBSTR or LENGTH checks.</a:t>
            </a:r>
            <a:endParaRPr lang="en-US" sz="1700" dirty="0"/>
          </a:p>
        </p:txBody>
      </p:sp>
      <p:sp>
        <p:nvSpPr>
          <p:cNvPr id="23" name="Shape 21"/>
          <p:cNvSpPr/>
          <p:nvPr/>
        </p:nvSpPr>
        <p:spPr>
          <a:xfrm>
            <a:off x="594360" y="4572000"/>
            <a:ext cx="11000232" cy="713232"/>
          </a:xfrm>
          <a:prstGeom prst="rect">
            <a:avLst/>
          </a:prstGeom>
          <a:solidFill>
            <a:srgbClr val="FFFFFF"/>
          </a:solidFill>
          <a:ln w="6350">
            <a:solidFill>
              <a:srgbClr val="FFFFFF"/>
            </a:solidFill>
            <a:prstDash val="solid"/>
          </a:ln>
        </p:spPr>
      </p:sp>
      <p:sp>
        <p:nvSpPr>
          <p:cNvPr id="24" name="Text 22"/>
          <p:cNvSpPr/>
          <p:nvPr/>
        </p:nvSpPr>
        <p:spPr>
          <a:xfrm>
            <a:off x="768096" y="4736592"/>
            <a:ext cx="530352" cy="356616"/>
          </a:xfrm>
          <a:prstGeom prst="rect">
            <a:avLst/>
          </a:prstGeom>
          <a:noFill/>
          <a:ln/>
        </p:spPr>
        <p:txBody>
          <a:bodyPr wrap="square" lIns="0" tIns="0" rIns="0" bIns="0" rtlCol="0" anchor="t"/>
          <a:lstStyle/>
          <a:p>
            <a:pPr indent="0" marL="0">
              <a:buNone/>
            </a:pPr>
            <a:r>
              <a:rPr lang="en-US" sz="2400" b="1" dirty="0">
                <a:solidFill>
                  <a:srgbClr val="187D7C"/>
                </a:solidFill>
                <a:latin typeface="Lato" pitchFamily="34" charset="0"/>
                <a:ea typeface="Lato" pitchFamily="34" charset="-122"/>
                <a:cs typeface="Lato" pitchFamily="34" charset="-120"/>
              </a:rPr>
              <a:t>04</a:t>
            </a:r>
            <a:endParaRPr lang="en-US" sz="2400" dirty="0"/>
          </a:p>
        </p:txBody>
      </p:sp>
      <p:sp>
        <p:nvSpPr>
          <p:cNvPr id="25" name="Text 23"/>
          <p:cNvSpPr/>
          <p:nvPr/>
        </p:nvSpPr>
        <p:spPr>
          <a:xfrm>
            <a:off x="1426464" y="4745736"/>
            <a:ext cx="4434840" cy="374904"/>
          </a:xfrm>
          <a:prstGeom prst="rect">
            <a:avLst/>
          </a:prstGeom>
          <a:noFill/>
          <a:ln/>
        </p:spPr>
        <p:txBody>
          <a:bodyPr wrap="square" lIns="0" tIns="0" rIns="0" bIns="0" rtlCol="0" anchor="t"/>
          <a:lstStyle/>
          <a:p>
            <a:pPr indent="0" marL="0">
              <a:buNone/>
            </a:pPr>
            <a:r>
              <a:rPr lang="en-US" sz="2100" b="1" dirty="0">
                <a:solidFill>
                  <a:srgbClr val="193D4D"/>
                </a:solidFill>
                <a:latin typeface="Lato" pitchFamily="34" charset="0"/>
                <a:ea typeface="Lato" pitchFamily="34" charset="-122"/>
                <a:cs typeface="Lato" pitchFamily="34" charset="-120"/>
              </a:rPr>
              <a:t>Work through a small pipeline</a:t>
            </a:r>
            <a:endParaRPr lang="en-US" sz="2100" dirty="0"/>
          </a:p>
        </p:txBody>
      </p:sp>
      <p:sp>
        <p:nvSpPr>
          <p:cNvPr id="26" name="Text 24"/>
          <p:cNvSpPr/>
          <p:nvPr/>
        </p:nvSpPr>
        <p:spPr>
          <a:xfrm>
            <a:off x="6172200" y="4709160"/>
            <a:ext cx="5102352"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A decomposed workflow with boundary and final-output checks.</a:t>
            </a:r>
            <a:endParaRPr lang="en-US" sz="1700" dirty="0"/>
          </a:p>
        </p:txBody>
      </p:sp>
      <p:sp>
        <p:nvSpPr>
          <p:cNvPr id="27" name="Shape 25"/>
          <p:cNvSpPr/>
          <p:nvPr/>
        </p:nvSpPr>
        <p:spPr>
          <a:xfrm>
            <a:off x="594360" y="5532120"/>
            <a:ext cx="11000232" cy="521208"/>
          </a:xfrm>
          <a:prstGeom prst="rect">
            <a:avLst/>
          </a:prstGeom>
          <a:solidFill>
            <a:srgbClr val="193D4D"/>
          </a:solidFill>
          <a:ln w="6350">
            <a:solidFill>
              <a:srgbClr val="193D4D"/>
            </a:solidFill>
            <a:prstDash val="solid"/>
          </a:ln>
        </p:spPr>
      </p:sp>
      <p:sp>
        <p:nvSpPr>
          <p:cNvPr id="28" name="Text 26"/>
          <p:cNvSpPr/>
          <p:nvPr/>
        </p:nvSpPr>
        <p:spPr>
          <a:xfrm>
            <a:off x="786384" y="5669280"/>
            <a:ext cx="10588752" cy="246888"/>
          </a:xfrm>
          <a:prstGeom prst="rect">
            <a:avLst/>
          </a:prstGeom>
          <a:noFill/>
          <a:ln/>
        </p:spPr>
        <p:txBody>
          <a:bodyPr wrap="square" lIns="0" tIns="0" rIns="0" bIns="0" rtlCol="0" anchor="t"/>
          <a:lstStyle/>
          <a:p>
            <a:pPr algn="ctr" indent="0" marL="0">
              <a:buNone/>
            </a:pPr>
            <a:r>
              <a:rPr lang="en-US" sz="1800" b="1" dirty="0">
                <a:solidFill>
                  <a:srgbClr val="FFFFFF"/>
                </a:solidFill>
                <a:latin typeface="Lato" pitchFamily="34" charset="0"/>
                <a:ea typeface="Lato" pitchFamily="34" charset="-122"/>
                <a:cs typeface="Lato" pitchFamily="34" charset="-120"/>
              </a:rPr>
              <a:t>5 min explain   +   8 min demonstrate   +   8 min practice   +   4 min discuss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274320"/>
            <a:ext cx="7315200" cy="210312"/>
          </a:xfrm>
          <a:prstGeom prst="rect">
            <a:avLst/>
          </a:prstGeom>
          <a:noFill/>
          <a:ln/>
        </p:spPr>
        <p:txBody>
          <a:bodyPr wrap="square" lIns="0" tIns="0" rIns="0" bIns="0" rtlCol="0" anchor="t"/>
          <a:lstStyle/>
          <a:p>
            <a:pPr indent="0" marL="0">
              <a:buNone/>
            </a:pPr>
            <a:r>
              <a:rPr lang="en-US" sz="1000" b="1" dirty="0">
                <a:solidFill>
                  <a:srgbClr val="193D4D"/>
                </a:solidFill>
                <a:latin typeface="Lato" pitchFamily="34" charset="0"/>
                <a:ea typeface="Lato" pitchFamily="34" charset="-122"/>
                <a:cs typeface="Lato" pitchFamily="34" charset="-120"/>
              </a:rPr>
              <a:t>SAS TO PYTHON  /  LLM COLLABORATION</a:t>
            </a:r>
            <a:endParaRPr lang="en-US" sz="1000" dirty="0"/>
          </a:p>
        </p:txBody>
      </p:sp>
      <p:sp>
        <p:nvSpPr>
          <p:cNvPr id="3" name="Text 1"/>
          <p:cNvSpPr/>
          <p:nvPr/>
        </p:nvSpPr>
        <p:spPr>
          <a:xfrm>
            <a:off x="8229600" y="274320"/>
            <a:ext cx="3337560" cy="210312"/>
          </a:xfrm>
          <a:prstGeom prst="rect">
            <a:avLst/>
          </a:prstGeom>
          <a:noFill/>
          <a:ln/>
        </p:spPr>
        <p:txBody>
          <a:bodyPr wrap="square" lIns="0" tIns="0" rIns="0" bIns="0" rtlCol="0" anchor="t"/>
          <a:lstStyle/>
          <a:p>
            <a:pPr algn="r" indent="0" marL="0">
              <a:buNone/>
            </a:pPr>
            <a:r>
              <a:rPr lang="en-US" sz="1000" b="1" dirty="0">
                <a:solidFill>
                  <a:srgbClr val="187D7C"/>
                </a:solidFill>
                <a:latin typeface="Lato" pitchFamily="34" charset="0"/>
                <a:ea typeface="Lato" pitchFamily="34" charset="-122"/>
                <a:cs typeface="Lato" pitchFamily="34" charset="-120"/>
              </a:rPr>
              <a:t>HOW, WHY, AND WHY NOT</a:t>
            </a:r>
            <a:endParaRPr lang="en-US" sz="1000" dirty="0"/>
          </a:p>
        </p:txBody>
      </p:sp>
      <p:sp>
        <p:nvSpPr>
          <p:cNvPr id="4" name="Text 2"/>
          <p:cNvSpPr/>
          <p:nvPr/>
        </p:nvSpPr>
        <p:spPr>
          <a:xfrm>
            <a:off x="594360" y="804672"/>
            <a:ext cx="10972800" cy="621792"/>
          </a:xfrm>
          <a:prstGeom prst="rect">
            <a:avLst/>
          </a:prstGeom>
          <a:noFill/>
          <a:ln/>
        </p:spPr>
        <p:txBody>
          <a:bodyPr wrap="square" lIns="0" tIns="0" rIns="0" bIns="0" rtlCol="0" anchor="t"/>
          <a:lstStyle/>
          <a:p>
            <a:pPr indent="0" marL="0">
              <a:buNone/>
            </a:pPr>
            <a:r>
              <a:rPr lang="en-US" sz="3100" b="1" dirty="0">
                <a:solidFill>
                  <a:srgbClr val="193D4D"/>
                </a:solidFill>
                <a:latin typeface="Lato" pitchFamily="34" charset="0"/>
                <a:ea typeface="Lato" pitchFamily="34" charset="-122"/>
                <a:cs typeface="Lato" pitchFamily="34" charset="-120"/>
              </a:rPr>
              <a:t>Make the consequential choices inspectable</a:t>
            </a:r>
            <a:endParaRPr lang="en-US" sz="3100" dirty="0"/>
          </a:p>
        </p:txBody>
      </p:sp>
      <p:sp>
        <p:nvSpPr>
          <p:cNvPr id="5" name="Text 3"/>
          <p:cNvSpPr/>
          <p:nvPr/>
        </p:nvSpPr>
        <p:spPr>
          <a:xfrm>
            <a:off x="594360" y="1426464"/>
            <a:ext cx="10972800" cy="402336"/>
          </a:xfrm>
          <a:prstGeom prst="rect">
            <a:avLst/>
          </a:prstGeom>
          <a:noFill/>
          <a:ln/>
        </p:spPr>
        <p:txBody>
          <a:bodyPr wrap="square" lIns="0" tIns="0" rIns="0" bIns="0" rtlCol="0" anchor="t"/>
          <a:lstStyle/>
          <a:p>
            <a:pPr indent="0" marL="0">
              <a:buNone/>
            </a:pPr>
            <a:r>
              <a:rPr lang="en-US" sz="1600" dirty="0">
                <a:solidFill>
                  <a:srgbClr val="61747C"/>
                </a:solidFill>
                <a:latin typeface="Lato" pitchFamily="34" charset="0"/>
                <a:ea typeface="Lato" pitchFamily="34" charset="-122"/>
                <a:cs typeface="Lato" pitchFamily="34" charset="-120"/>
              </a:rPr>
              <a:t>MEAN is the first worked example. The guide contains the complete reusable request.</a:t>
            </a:r>
            <a:endParaRPr lang="en-US" sz="1600" dirty="0"/>
          </a:p>
        </p:txBody>
      </p:sp>
      <p:sp>
        <p:nvSpPr>
          <p:cNvPr id="6" name="Shape 4"/>
          <p:cNvSpPr/>
          <p:nvPr/>
        </p:nvSpPr>
        <p:spPr>
          <a:xfrm>
            <a:off x="594360" y="6400800"/>
            <a:ext cx="11000232" cy="0"/>
          </a:xfrm>
          <a:prstGeom prst="line">
            <a:avLst/>
          </a:prstGeom>
          <a:noFill/>
          <a:ln w="8255">
            <a:solidFill>
              <a:srgbClr val="D8E2E0"/>
            </a:solidFill>
            <a:prstDash val="solid"/>
          </a:ln>
        </p:spPr>
      </p:sp>
      <p:sp>
        <p:nvSpPr>
          <p:cNvPr id="7" name="Text 5"/>
          <p:cNvSpPr/>
          <p:nvPr/>
        </p:nvSpPr>
        <p:spPr>
          <a:xfrm>
            <a:off x="594360" y="6528816"/>
            <a:ext cx="8046720" cy="164592"/>
          </a:xfrm>
          <a:prstGeom prst="rect">
            <a:avLst/>
          </a:prstGeom>
          <a:noFill/>
          <a:ln/>
        </p:spPr>
        <p:txBody>
          <a:bodyPr wrap="square" lIns="0" tIns="0" rIns="0" bIns="0" rtlCol="0" anchor="t"/>
          <a:lstStyle/>
          <a:p>
            <a:pPr indent="0" marL="0">
              <a:buNone/>
            </a:pPr>
            <a:r>
              <a:rPr lang="en-US" sz="900" dirty="0">
                <a:solidFill>
                  <a:srgbClr val="61747C"/>
                </a:solidFill>
                <a:latin typeface="Lato" pitchFamily="34" charset="0"/>
                <a:ea typeface="Lato" pitchFamily="34" charset="-122"/>
                <a:cs typeface="Lato" pitchFamily="34" charset="-120"/>
              </a:rPr>
              <a:t>PILOT v0.1  |  TEAM REVIEW  |  25 SEP 2026</a:t>
            </a:r>
            <a:endParaRPr lang="en-US" sz="900" dirty="0"/>
          </a:p>
        </p:txBody>
      </p:sp>
      <p:sp>
        <p:nvSpPr>
          <p:cNvPr id="8" name="Text 6"/>
          <p:cNvSpPr/>
          <p:nvPr/>
        </p:nvSpPr>
        <p:spPr>
          <a:xfrm>
            <a:off x="10789920" y="6510528"/>
            <a:ext cx="777240" cy="192024"/>
          </a:xfrm>
          <a:prstGeom prst="rect">
            <a:avLst/>
          </a:prstGeom>
          <a:noFill/>
          <a:ln/>
        </p:spPr>
        <p:txBody>
          <a:bodyPr wrap="square" lIns="0" tIns="0" rIns="0" bIns="0" rtlCol="0" anchor="t"/>
          <a:lstStyle/>
          <a:p>
            <a:pPr algn="r" indent="0" marL="0">
              <a:buNone/>
            </a:pPr>
            <a:r>
              <a:rPr lang="en-US" sz="1000" dirty="0">
                <a:solidFill>
                  <a:srgbClr val="61747C"/>
                </a:solidFill>
                <a:latin typeface="Lato" pitchFamily="34" charset="0"/>
                <a:ea typeface="Lato" pitchFamily="34" charset="-122"/>
                <a:cs typeface="Lato" pitchFamily="34" charset="-120"/>
              </a:rPr>
              <a:t>04 / 08</a:t>
            </a:r>
            <a:endParaRPr lang="en-US" sz="1000" dirty="0"/>
          </a:p>
        </p:txBody>
      </p:sp>
      <p:sp>
        <p:nvSpPr>
          <p:cNvPr id="9" name="Shape 7"/>
          <p:cNvSpPr/>
          <p:nvPr/>
        </p:nvSpPr>
        <p:spPr>
          <a:xfrm>
            <a:off x="594360" y="1947672"/>
            <a:ext cx="4919472" cy="2980944"/>
          </a:xfrm>
          <a:prstGeom prst="rect">
            <a:avLst/>
          </a:prstGeom>
          <a:solidFill>
            <a:srgbClr val="FFFFFF"/>
          </a:solidFill>
          <a:ln w="6350">
            <a:solidFill>
              <a:srgbClr val="FFFFFF"/>
            </a:solidFill>
            <a:prstDash val="solid"/>
          </a:ln>
        </p:spPr>
      </p:sp>
      <p:sp>
        <p:nvSpPr>
          <p:cNvPr id="10" name="Text 8"/>
          <p:cNvSpPr/>
          <p:nvPr/>
        </p:nvSpPr>
        <p:spPr>
          <a:xfrm>
            <a:off x="804672" y="2130552"/>
            <a:ext cx="4480560" cy="265176"/>
          </a:xfrm>
          <a:prstGeom prst="rect">
            <a:avLst/>
          </a:prstGeom>
          <a:noFill/>
          <a:ln/>
        </p:spPr>
        <p:txBody>
          <a:bodyPr wrap="square" lIns="0" tIns="0" rIns="0" bIns="0" rtlCol="0" anchor="t"/>
          <a:lstStyle/>
          <a:p>
            <a:pPr indent="0" marL="0">
              <a:buNone/>
            </a:pPr>
            <a:r>
              <a:rPr lang="en-US" sz="1100" b="1" dirty="0">
                <a:solidFill>
                  <a:srgbClr val="187D7C"/>
                </a:solidFill>
                <a:latin typeface="Lato" pitchFamily="34" charset="0"/>
                <a:ea typeface="Lato" pitchFamily="34" charset="-122"/>
                <a:cs typeface="Lato" pitchFamily="34" charset="-120"/>
              </a:rPr>
              <a:t>THE FAMILIAR SAS CALCULATION</a:t>
            </a:r>
            <a:endParaRPr lang="en-US" sz="1100" dirty="0"/>
          </a:p>
        </p:txBody>
      </p:sp>
      <p:sp>
        <p:nvSpPr>
          <p:cNvPr id="11" name="Text 9"/>
          <p:cNvSpPr/>
          <p:nvPr/>
        </p:nvSpPr>
        <p:spPr>
          <a:xfrm>
            <a:off x="804672" y="2633472"/>
            <a:ext cx="4480560" cy="420624"/>
          </a:xfrm>
          <a:prstGeom prst="rect">
            <a:avLst/>
          </a:prstGeom>
          <a:noFill/>
          <a:ln/>
        </p:spPr>
        <p:txBody>
          <a:bodyPr wrap="square" lIns="0" tIns="0" rIns="0" bIns="0" rtlCol="0" anchor="t"/>
          <a:lstStyle/>
          <a:p>
            <a:pPr indent="0" marL="0">
              <a:buNone/>
            </a:pPr>
            <a:r>
              <a:rPr lang="en-US" sz="2000" dirty="0">
                <a:solidFill>
                  <a:srgbClr val="193D4D"/>
                </a:solidFill>
                <a:latin typeface="Liberation Mono" pitchFamily="34" charset="0"/>
                <a:ea typeface="Liberation Mono" pitchFamily="34" charset="-122"/>
                <a:cs typeface="Liberation Mono" pitchFamily="34" charset="-120"/>
              </a:rPr>
              <a:t>average = mean(x, y, z);</a:t>
            </a:r>
            <a:endParaRPr lang="en-US" sz="2000" dirty="0"/>
          </a:p>
        </p:txBody>
      </p:sp>
      <p:sp>
        <p:nvSpPr>
          <p:cNvPr id="12" name="Text 10"/>
          <p:cNvSpPr/>
          <p:nvPr/>
        </p:nvSpPr>
        <p:spPr>
          <a:xfrm>
            <a:off x="804672" y="3246120"/>
            <a:ext cx="1938528" cy="1069848"/>
          </a:xfrm>
          <a:prstGeom prst="rect">
            <a:avLst/>
          </a:prstGeom>
          <a:noFill/>
          <a:ln/>
        </p:spPr>
        <p:txBody>
          <a:bodyPr wrap="square" lIns="0" tIns="0" rIns="0" bIns="0" rtlCol="0" anchor="t"/>
          <a:lstStyle/>
          <a:p>
            <a:pPr indent="0" marL="0">
              <a:buNone/>
            </a:pPr>
            <a:r>
              <a:rPr lang="en-US" sz="2200" dirty="0">
                <a:solidFill>
                  <a:srgbClr val="243B45"/>
                </a:solidFill>
                <a:latin typeface="Liberation Mono" pitchFamily="34" charset="0"/>
                <a:ea typeface="Liberation Mono" pitchFamily="34" charset="-122"/>
                <a:cs typeface="Liberation Mono" pitchFamily="34" charset="-120"/>
              </a:rPr>
              <a:t>1    2    3</a:t>
            </a:r>
            <a:endParaRPr lang="en-US" sz="2200" dirty="0"/>
          </a:p>
          <a:p>
            <a:pPr indent="0" marL="0">
              <a:buNone/>
            </a:pPr>
            <a:r>
              <a:rPr lang="en-US" sz="2200" dirty="0">
                <a:solidFill>
                  <a:srgbClr val="243B45"/>
                </a:solidFill>
                <a:latin typeface="Liberation Mono" pitchFamily="34" charset="0"/>
                <a:ea typeface="Liberation Mono" pitchFamily="34" charset="-122"/>
                <a:cs typeface="Liberation Mono" pitchFamily="34" charset="-120"/>
              </a:rPr>
              <a:t>4    .    6</a:t>
            </a:r>
            <a:endParaRPr lang="en-US" sz="2200" dirty="0"/>
          </a:p>
          <a:p>
            <a:pPr indent="0" marL="0">
              <a:buNone/>
            </a:pPr>
            <a:r>
              <a:rPr lang="en-US" sz="2200" dirty="0">
                <a:solidFill>
                  <a:srgbClr val="243B45"/>
                </a:solidFill>
                <a:latin typeface="Liberation Mono" pitchFamily="34" charset="0"/>
                <a:ea typeface="Liberation Mono" pitchFamily="34" charset="-122"/>
                <a:cs typeface="Liberation Mono" pitchFamily="34" charset="-120"/>
              </a:rPr>
              <a:t>.    .    .</a:t>
            </a:r>
            <a:endParaRPr lang="en-US" sz="2200" dirty="0"/>
          </a:p>
        </p:txBody>
      </p:sp>
      <p:sp>
        <p:nvSpPr>
          <p:cNvPr id="13" name="Text 11"/>
          <p:cNvSpPr/>
          <p:nvPr/>
        </p:nvSpPr>
        <p:spPr>
          <a:xfrm>
            <a:off x="2907792" y="3300984"/>
            <a:ext cx="2249424" cy="1005840"/>
          </a:xfrm>
          <a:prstGeom prst="rect">
            <a:avLst/>
          </a:prstGeom>
          <a:noFill/>
          <a:ln/>
        </p:spPr>
        <p:txBody>
          <a:bodyPr wrap="square" lIns="0" tIns="0" rIns="0" bIns="0" rtlCol="0" anchor="t"/>
          <a:lstStyle/>
          <a:p>
            <a:pPr indent="0" marL="0">
              <a:buNone/>
            </a:pPr>
            <a:r>
              <a:rPr lang="en-US" sz="1800" dirty="0">
                <a:solidFill>
                  <a:srgbClr val="61747C"/>
                </a:solidFill>
                <a:latin typeface="Lato" pitchFamily="34" charset="0"/>
                <a:ea typeface="Lato" pitchFamily="34" charset="-122"/>
                <a:cs typeface="Lato" pitchFamily="34" charset="-120"/>
              </a:rPr>
              <a:t>Three rows.</a:t>
            </a:r>
            <a:endParaRPr lang="en-US" sz="1800" dirty="0"/>
          </a:p>
          <a:p>
            <a:pPr indent="0" marL="0">
              <a:buNone/>
            </a:pPr>
            <a:r>
              <a:rPr lang="en-US" sz="1800" dirty="0">
                <a:solidFill>
                  <a:srgbClr val="61747C"/>
                </a:solidFill>
                <a:latin typeface="Lato" pitchFamily="34" charset="0"/>
                <a:ea typeface="Lato" pitchFamily="34" charset="-122"/>
                <a:cs typeface="Lato" pitchFamily="34" charset="-120"/>
              </a:rPr>
              <a:t>One calculation.</a:t>
            </a:r>
            <a:endParaRPr lang="en-US" sz="1800" dirty="0"/>
          </a:p>
          <a:p>
            <a:pPr indent="0" marL="0">
              <a:buNone/>
            </a:pPr>
            <a:r>
              <a:rPr lang="en-US" sz="1800" dirty="0">
                <a:solidFill>
                  <a:srgbClr val="61747C"/>
                </a:solidFill>
                <a:latin typeface="Lato" pitchFamily="34" charset="0"/>
                <a:ea typeface="Lato" pitchFamily="34" charset="-122"/>
                <a:cs typeface="Lato" pitchFamily="34" charset="-120"/>
              </a:rPr>
              <a:t>Different missingness.</a:t>
            </a:r>
            <a:endParaRPr lang="en-US" sz="1800" dirty="0"/>
          </a:p>
        </p:txBody>
      </p:sp>
      <p:sp>
        <p:nvSpPr>
          <p:cNvPr id="14" name="Shape 12"/>
          <p:cNvSpPr/>
          <p:nvPr/>
        </p:nvSpPr>
        <p:spPr>
          <a:xfrm>
            <a:off x="5696712" y="1947672"/>
            <a:ext cx="5897880" cy="2980944"/>
          </a:xfrm>
          <a:prstGeom prst="rect">
            <a:avLst/>
          </a:prstGeom>
          <a:solidFill>
            <a:srgbClr val="EAF4F1"/>
          </a:solidFill>
          <a:ln w="6350">
            <a:solidFill>
              <a:srgbClr val="EAF4F1"/>
            </a:solidFill>
            <a:prstDash val="solid"/>
          </a:ln>
        </p:spPr>
      </p:sp>
      <p:sp>
        <p:nvSpPr>
          <p:cNvPr id="15" name="Text 13"/>
          <p:cNvSpPr/>
          <p:nvPr/>
        </p:nvSpPr>
        <p:spPr>
          <a:xfrm>
            <a:off x="5907024" y="2130552"/>
            <a:ext cx="5458968" cy="265176"/>
          </a:xfrm>
          <a:prstGeom prst="rect">
            <a:avLst/>
          </a:prstGeom>
          <a:noFill/>
          <a:ln/>
        </p:spPr>
        <p:txBody>
          <a:bodyPr wrap="square" lIns="0" tIns="0" rIns="0" bIns="0" rtlCol="0" anchor="t"/>
          <a:lstStyle/>
          <a:p>
            <a:pPr indent="0" marL="0">
              <a:buNone/>
            </a:pPr>
            <a:r>
              <a:rPr lang="en-US" sz="1100" b="1" dirty="0">
                <a:solidFill>
                  <a:srgbClr val="187D7C"/>
                </a:solidFill>
                <a:latin typeface="Lato" pitchFamily="34" charset="0"/>
                <a:ea typeface="Lato" pitchFamily="34" charset="-122"/>
                <a:cs typeface="Lato" pitchFamily="34" charset="-120"/>
              </a:rPr>
              <a:t>PRACTICAL HEADINGS, NOT AN ACRONYM</a:t>
            </a:r>
            <a:endParaRPr lang="en-US" sz="1100" dirty="0"/>
          </a:p>
        </p:txBody>
      </p:sp>
      <p:sp>
        <p:nvSpPr>
          <p:cNvPr id="16" name="Text 14"/>
          <p:cNvSpPr/>
          <p:nvPr/>
        </p:nvSpPr>
        <p:spPr>
          <a:xfrm>
            <a:off x="5907024" y="2624328"/>
            <a:ext cx="2331720" cy="256032"/>
          </a:xfrm>
          <a:prstGeom prst="rect">
            <a:avLst/>
          </a:prstGeom>
          <a:noFill/>
          <a:ln/>
        </p:spPr>
        <p:txBody>
          <a:bodyPr wrap="square" lIns="0" tIns="0" rIns="0" bIns="0" rtlCol="0" anchor="t"/>
          <a:lstStyle/>
          <a:p>
            <a:pPr indent="0" marL="0">
              <a:buNone/>
            </a:pPr>
            <a:r>
              <a:rPr lang="en-US" sz="1500" b="1" dirty="0">
                <a:solidFill>
                  <a:srgbClr val="193D4D"/>
                </a:solidFill>
                <a:latin typeface="Lato" pitchFamily="34" charset="0"/>
                <a:ea typeface="Lato" pitchFamily="34" charset="-122"/>
                <a:cs typeface="Lato" pitchFamily="34" charset="-120"/>
              </a:rPr>
              <a:t>Task</a:t>
            </a:r>
            <a:endParaRPr lang="en-US" sz="1500" dirty="0"/>
          </a:p>
        </p:txBody>
      </p:sp>
      <p:sp>
        <p:nvSpPr>
          <p:cNvPr id="17" name="Text 15"/>
          <p:cNvSpPr/>
          <p:nvPr/>
        </p:nvSpPr>
        <p:spPr>
          <a:xfrm>
            <a:off x="8339328" y="2624328"/>
            <a:ext cx="3026664" cy="274320"/>
          </a:xfrm>
          <a:prstGeom prst="rect">
            <a:avLst/>
          </a:prstGeom>
          <a:noFill/>
          <a:ln/>
        </p:spPr>
        <p:txBody>
          <a:bodyPr wrap="square" lIns="0" tIns="0" rIns="0" bIns="0" rtlCol="0" anchor="t"/>
          <a:lstStyle/>
          <a:p>
            <a:pPr indent="0" marL="0">
              <a:buNone/>
            </a:pPr>
            <a:r>
              <a:rPr lang="en-US" sz="1450" dirty="0">
                <a:solidFill>
                  <a:srgbClr val="243B45"/>
                </a:solidFill>
                <a:latin typeface="Lato" pitchFamily="34" charset="0"/>
                <a:ea typeface="Lato" pitchFamily="34" charset="-122"/>
                <a:cs typeface="Lato" pitchFamily="34" charset="-120"/>
              </a:rPr>
              <a:t>One transformation.</a:t>
            </a:r>
            <a:endParaRPr lang="en-US" sz="1450" dirty="0"/>
          </a:p>
        </p:txBody>
      </p:sp>
      <p:sp>
        <p:nvSpPr>
          <p:cNvPr id="18" name="Text 16"/>
          <p:cNvSpPr/>
          <p:nvPr/>
        </p:nvSpPr>
        <p:spPr>
          <a:xfrm>
            <a:off x="5907024" y="2953512"/>
            <a:ext cx="2331720" cy="256032"/>
          </a:xfrm>
          <a:prstGeom prst="rect">
            <a:avLst/>
          </a:prstGeom>
          <a:noFill/>
          <a:ln/>
        </p:spPr>
        <p:txBody>
          <a:bodyPr wrap="square" lIns="0" tIns="0" rIns="0" bIns="0" rtlCol="0" anchor="t"/>
          <a:lstStyle/>
          <a:p>
            <a:pPr indent="0" marL="0">
              <a:buNone/>
            </a:pPr>
            <a:r>
              <a:rPr lang="en-US" sz="1500" b="1" dirty="0">
                <a:solidFill>
                  <a:srgbClr val="193D4D"/>
                </a:solidFill>
                <a:latin typeface="Lato" pitchFamily="34" charset="0"/>
                <a:ea typeface="Lato" pitchFamily="34" charset="-122"/>
                <a:cs typeface="Lato" pitchFamily="34" charset="-120"/>
              </a:rPr>
              <a:t>Source and context</a:t>
            </a:r>
            <a:endParaRPr lang="en-US" sz="1500" dirty="0"/>
          </a:p>
        </p:txBody>
      </p:sp>
      <p:sp>
        <p:nvSpPr>
          <p:cNvPr id="19" name="Text 17"/>
          <p:cNvSpPr/>
          <p:nvPr/>
        </p:nvSpPr>
        <p:spPr>
          <a:xfrm>
            <a:off x="8339328" y="2953512"/>
            <a:ext cx="3026664" cy="274320"/>
          </a:xfrm>
          <a:prstGeom prst="rect">
            <a:avLst/>
          </a:prstGeom>
          <a:noFill/>
          <a:ln/>
        </p:spPr>
        <p:txBody>
          <a:bodyPr wrap="square" lIns="0" tIns="0" rIns="0" bIns="0" rtlCol="0" anchor="t"/>
          <a:lstStyle/>
          <a:p>
            <a:pPr indent="0" marL="0">
              <a:buNone/>
            </a:pPr>
            <a:r>
              <a:rPr lang="en-US" sz="1450" dirty="0">
                <a:solidFill>
                  <a:srgbClr val="243B45"/>
                </a:solidFill>
                <a:latin typeface="Lato" pitchFamily="34" charset="0"/>
                <a:ea typeface="Lato" pitchFamily="34" charset="-122"/>
                <a:cs typeface="Lato" pitchFamily="34" charset="-120"/>
              </a:rPr>
              <a:t>Source, schema, dependencies.</a:t>
            </a:r>
            <a:endParaRPr lang="en-US" sz="1450" dirty="0"/>
          </a:p>
        </p:txBody>
      </p:sp>
      <p:sp>
        <p:nvSpPr>
          <p:cNvPr id="20" name="Text 18"/>
          <p:cNvSpPr/>
          <p:nvPr/>
        </p:nvSpPr>
        <p:spPr>
          <a:xfrm>
            <a:off x="5907024" y="3282696"/>
            <a:ext cx="2331720" cy="256032"/>
          </a:xfrm>
          <a:prstGeom prst="rect">
            <a:avLst/>
          </a:prstGeom>
          <a:noFill/>
          <a:ln/>
        </p:spPr>
        <p:txBody>
          <a:bodyPr wrap="square" lIns="0" tIns="0" rIns="0" bIns="0" rtlCol="0" anchor="t"/>
          <a:lstStyle/>
          <a:p>
            <a:pPr indent="0" marL="0">
              <a:buNone/>
            </a:pPr>
            <a:r>
              <a:rPr lang="en-US" sz="1500" b="1" dirty="0">
                <a:solidFill>
                  <a:srgbClr val="193D4D"/>
                </a:solidFill>
                <a:latin typeface="Lato" pitchFamily="34" charset="0"/>
                <a:ea typeface="Lato" pitchFamily="34" charset="-122"/>
                <a:cs typeface="Lato" pitchFamily="34" charset="-120"/>
              </a:rPr>
              <a:t>Environment</a:t>
            </a:r>
            <a:endParaRPr lang="en-US" sz="1500" dirty="0"/>
          </a:p>
        </p:txBody>
      </p:sp>
      <p:sp>
        <p:nvSpPr>
          <p:cNvPr id="21" name="Text 19"/>
          <p:cNvSpPr/>
          <p:nvPr/>
        </p:nvSpPr>
        <p:spPr>
          <a:xfrm>
            <a:off x="8339328" y="3282696"/>
            <a:ext cx="3026664" cy="274320"/>
          </a:xfrm>
          <a:prstGeom prst="rect">
            <a:avLst/>
          </a:prstGeom>
          <a:noFill/>
          <a:ln/>
        </p:spPr>
        <p:txBody>
          <a:bodyPr wrap="square" lIns="0" tIns="0" rIns="0" bIns="0" rtlCol="0" anchor="t"/>
          <a:lstStyle/>
          <a:p>
            <a:pPr indent="0" marL="0">
              <a:buNone/>
            </a:pPr>
            <a:r>
              <a:rPr lang="en-US" sz="1450" dirty="0">
                <a:solidFill>
                  <a:srgbClr val="243B45"/>
                </a:solidFill>
                <a:latin typeface="Lato" pitchFamily="34" charset="0"/>
                <a:ea typeface="Lato" pitchFamily="34" charset="-122"/>
                <a:cs typeface="Lato" pitchFamily="34" charset="-120"/>
              </a:rPr>
              <a:t>Approved Python and libraries.</a:t>
            </a:r>
            <a:endParaRPr lang="en-US" sz="1450" dirty="0"/>
          </a:p>
        </p:txBody>
      </p:sp>
      <p:sp>
        <p:nvSpPr>
          <p:cNvPr id="22" name="Text 20"/>
          <p:cNvSpPr/>
          <p:nvPr/>
        </p:nvSpPr>
        <p:spPr>
          <a:xfrm>
            <a:off x="5907024" y="3611880"/>
            <a:ext cx="2331720" cy="256032"/>
          </a:xfrm>
          <a:prstGeom prst="rect">
            <a:avLst/>
          </a:prstGeom>
          <a:noFill/>
          <a:ln/>
        </p:spPr>
        <p:txBody>
          <a:bodyPr wrap="square" lIns="0" tIns="0" rIns="0" bIns="0" rtlCol="0" anchor="t"/>
          <a:lstStyle/>
          <a:p>
            <a:pPr indent="0" marL="0">
              <a:buNone/>
            </a:pPr>
            <a:r>
              <a:rPr lang="en-US" sz="1500" b="1" dirty="0">
                <a:solidFill>
                  <a:srgbClr val="193D4D"/>
                </a:solidFill>
                <a:latin typeface="Lato" pitchFamily="34" charset="0"/>
                <a:ea typeface="Lato" pitchFamily="34" charset="-122"/>
                <a:cs typeface="Lato" pitchFamily="34" charset="-120"/>
              </a:rPr>
              <a:t>Required behavior</a:t>
            </a:r>
            <a:endParaRPr lang="en-US" sz="1500" dirty="0"/>
          </a:p>
        </p:txBody>
      </p:sp>
      <p:sp>
        <p:nvSpPr>
          <p:cNvPr id="23" name="Text 21"/>
          <p:cNvSpPr/>
          <p:nvPr/>
        </p:nvSpPr>
        <p:spPr>
          <a:xfrm>
            <a:off x="8339328" y="3611880"/>
            <a:ext cx="3026664" cy="274320"/>
          </a:xfrm>
          <a:prstGeom prst="rect">
            <a:avLst/>
          </a:prstGeom>
          <a:noFill/>
          <a:ln/>
        </p:spPr>
        <p:txBody>
          <a:bodyPr wrap="square" lIns="0" tIns="0" rIns="0" bIns="0" rtlCol="0" anchor="t"/>
          <a:lstStyle/>
          <a:p>
            <a:pPr indent="0" marL="0">
              <a:buNone/>
            </a:pPr>
            <a:r>
              <a:rPr lang="en-US" sz="1450" dirty="0">
                <a:solidFill>
                  <a:srgbClr val="243B45"/>
                </a:solidFill>
                <a:latin typeface="Lato" pitchFamily="34" charset="0"/>
                <a:ea typeface="Lato" pitchFamily="34" charset="-122"/>
                <a:cs typeface="Lato" pitchFamily="34" charset="-120"/>
              </a:rPr>
              <a:t>Missingness, order, types, outputs.</a:t>
            </a:r>
            <a:endParaRPr lang="en-US" sz="1450" dirty="0"/>
          </a:p>
        </p:txBody>
      </p:sp>
      <p:sp>
        <p:nvSpPr>
          <p:cNvPr id="24" name="Text 22"/>
          <p:cNvSpPr/>
          <p:nvPr/>
        </p:nvSpPr>
        <p:spPr>
          <a:xfrm>
            <a:off x="5907024" y="3941064"/>
            <a:ext cx="2331720" cy="256032"/>
          </a:xfrm>
          <a:prstGeom prst="rect">
            <a:avLst/>
          </a:prstGeom>
          <a:noFill/>
          <a:ln/>
        </p:spPr>
        <p:txBody>
          <a:bodyPr wrap="square" lIns="0" tIns="0" rIns="0" bIns="0" rtlCol="0" anchor="t"/>
          <a:lstStyle/>
          <a:p>
            <a:pPr indent="0" marL="0">
              <a:buNone/>
            </a:pPr>
            <a:r>
              <a:rPr lang="en-US" sz="1500" b="1" dirty="0">
                <a:solidFill>
                  <a:srgbClr val="193D4D"/>
                </a:solidFill>
                <a:latin typeface="Lato" pitchFamily="34" charset="0"/>
                <a:ea typeface="Lato" pitchFamily="34" charset="-122"/>
                <a:cs typeface="Lato" pitchFamily="34" charset="-120"/>
              </a:rPr>
              <a:t>Deliverable</a:t>
            </a:r>
            <a:endParaRPr lang="en-US" sz="1500" dirty="0"/>
          </a:p>
        </p:txBody>
      </p:sp>
      <p:sp>
        <p:nvSpPr>
          <p:cNvPr id="25" name="Text 23"/>
          <p:cNvSpPr/>
          <p:nvPr/>
        </p:nvSpPr>
        <p:spPr>
          <a:xfrm>
            <a:off x="8339328" y="3941064"/>
            <a:ext cx="3026664" cy="274320"/>
          </a:xfrm>
          <a:prstGeom prst="rect">
            <a:avLst/>
          </a:prstGeom>
          <a:noFill/>
          <a:ln/>
        </p:spPr>
        <p:txBody>
          <a:bodyPr wrap="square" lIns="0" tIns="0" rIns="0" bIns="0" rtlCol="0" anchor="t"/>
          <a:lstStyle/>
          <a:p>
            <a:pPr indent="0" marL="0">
              <a:buNone/>
            </a:pPr>
            <a:r>
              <a:rPr lang="en-US" sz="1450" dirty="0">
                <a:solidFill>
                  <a:srgbClr val="243B45"/>
                </a:solidFill>
                <a:latin typeface="Lato" pitchFamily="34" charset="0"/>
                <a:ea typeface="Lato" pitchFamily="34" charset="-122"/>
                <a:cs typeface="Lato" pitchFamily="34" charset="-120"/>
              </a:rPr>
              <a:t>Code and a requirement mapping.</a:t>
            </a:r>
            <a:endParaRPr lang="en-US" sz="1450" dirty="0"/>
          </a:p>
        </p:txBody>
      </p:sp>
      <p:sp>
        <p:nvSpPr>
          <p:cNvPr id="26" name="Text 24"/>
          <p:cNvSpPr/>
          <p:nvPr/>
        </p:nvSpPr>
        <p:spPr>
          <a:xfrm>
            <a:off x="5907024" y="4270248"/>
            <a:ext cx="2331720" cy="256032"/>
          </a:xfrm>
          <a:prstGeom prst="rect">
            <a:avLst/>
          </a:prstGeom>
          <a:noFill/>
          <a:ln/>
        </p:spPr>
        <p:txBody>
          <a:bodyPr wrap="square" lIns="0" tIns="0" rIns="0" bIns="0" rtlCol="0" anchor="t"/>
          <a:lstStyle/>
          <a:p>
            <a:pPr indent="0" marL="0">
              <a:buNone/>
            </a:pPr>
            <a:r>
              <a:rPr lang="en-US" sz="1500" b="1" dirty="0">
                <a:solidFill>
                  <a:srgbClr val="193D4D"/>
                </a:solidFill>
                <a:latin typeface="Lato" pitchFamily="34" charset="0"/>
                <a:ea typeface="Lato" pitchFamily="34" charset="-122"/>
                <a:cs typeface="Lato" pitchFamily="34" charset="-120"/>
              </a:rPr>
              <a:t>Uncertainty and checks</a:t>
            </a:r>
            <a:endParaRPr lang="en-US" sz="1500" dirty="0"/>
          </a:p>
        </p:txBody>
      </p:sp>
      <p:sp>
        <p:nvSpPr>
          <p:cNvPr id="27" name="Text 25"/>
          <p:cNvSpPr/>
          <p:nvPr/>
        </p:nvSpPr>
        <p:spPr>
          <a:xfrm>
            <a:off x="8339328" y="4270248"/>
            <a:ext cx="3026664" cy="274320"/>
          </a:xfrm>
          <a:prstGeom prst="rect">
            <a:avLst/>
          </a:prstGeom>
          <a:noFill/>
          <a:ln/>
        </p:spPr>
        <p:txBody>
          <a:bodyPr wrap="square" lIns="0" tIns="0" rIns="0" bIns="0" rtlCol="0" anchor="t"/>
          <a:lstStyle/>
          <a:p>
            <a:pPr indent="0" marL="0">
              <a:buNone/>
            </a:pPr>
            <a:r>
              <a:rPr lang="en-US" sz="1450" dirty="0">
                <a:solidFill>
                  <a:srgbClr val="243B45"/>
                </a:solidFill>
                <a:latin typeface="Lato" pitchFamily="34" charset="0"/>
                <a:ea typeface="Lato" pitchFamily="34" charset="-122"/>
                <a:cs typeface="Lato" pitchFamily="34" charset="-120"/>
              </a:rPr>
              <a:t>Flag gaps; label evidence honestly.</a:t>
            </a:r>
            <a:endParaRPr lang="en-US" sz="1450" dirty="0"/>
          </a:p>
        </p:txBody>
      </p:sp>
      <p:sp>
        <p:nvSpPr>
          <p:cNvPr id="28" name="Text 26"/>
          <p:cNvSpPr/>
          <p:nvPr/>
        </p:nvSpPr>
        <p:spPr>
          <a:xfrm>
            <a:off x="594360" y="5340096"/>
            <a:ext cx="3429000" cy="210312"/>
          </a:xfrm>
          <a:prstGeom prst="rect">
            <a:avLst/>
          </a:prstGeom>
          <a:noFill/>
          <a:ln/>
        </p:spPr>
        <p:txBody>
          <a:bodyPr wrap="square" lIns="0" tIns="0" rIns="0" bIns="0" rtlCol="0" anchor="t"/>
          <a:lstStyle/>
          <a:p>
            <a:pPr indent="0" marL="0">
              <a:buNone/>
            </a:pPr>
            <a:r>
              <a:rPr lang="en-US" sz="1100" b="1" dirty="0">
                <a:solidFill>
                  <a:srgbClr val="187D7C"/>
                </a:solidFill>
                <a:latin typeface="Lato" pitchFamily="34" charset="0"/>
                <a:ea typeface="Lato" pitchFamily="34" charset="-122"/>
                <a:cs typeface="Lato" pitchFamily="34" charset="-120"/>
              </a:rPr>
              <a:t>HOW</a:t>
            </a:r>
            <a:endParaRPr lang="en-US" sz="1100" dirty="0"/>
          </a:p>
        </p:txBody>
      </p:sp>
      <p:sp>
        <p:nvSpPr>
          <p:cNvPr id="29" name="Text 27"/>
          <p:cNvSpPr/>
          <p:nvPr/>
        </p:nvSpPr>
        <p:spPr>
          <a:xfrm>
            <a:off x="594360" y="5660136"/>
            <a:ext cx="3429000" cy="475488"/>
          </a:xfrm>
          <a:prstGeom prst="rect">
            <a:avLst/>
          </a:prstGeom>
          <a:noFill/>
          <a:ln/>
        </p:spPr>
        <p:txBody>
          <a:bodyPr wrap="square" lIns="0" tIns="0" rIns="0" bIns="0" rtlCol="0" anchor="t"/>
          <a:lstStyle/>
          <a:p>
            <a:pPr indent="0" marL="0">
              <a:buNone/>
            </a:pPr>
            <a:r>
              <a:rPr lang="en-US" sz="1700" b="1" dirty="0">
                <a:solidFill>
                  <a:srgbClr val="193D4D"/>
                </a:solidFill>
                <a:latin typeface="Lato" pitchFamily="34" charset="0"/>
                <a:ea typeface="Lato" pitchFamily="34" charset="-122"/>
                <a:cs typeface="Lato" pitchFamily="34" charset="-120"/>
              </a:rPr>
              <a:t>Name the behavior to preserve.</a:t>
            </a:r>
            <a:endParaRPr lang="en-US" sz="1700" dirty="0"/>
          </a:p>
        </p:txBody>
      </p:sp>
      <p:sp>
        <p:nvSpPr>
          <p:cNvPr id="30" name="Text 28"/>
          <p:cNvSpPr/>
          <p:nvPr/>
        </p:nvSpPr>
        <p:spPr>
          <a:xfrm>
            <a:off x="4379976" y="5340096"/>
            <a:ext cx="3429000" cy="210312"/>
          </a:xfrm>
          <a:prstGeom prst="rect">
            <a:avLst/>
          </a:prstGeom>
          <a:noFill/>
          <a:ln/>
        </p:spPr>
        <p:txBody>
          <a:bodyPr wrap="square" lIns="0" tIns="0" rIns="0" bIns="0" rtlCol="0" anchor="t"/>
          <a:lstStyle/>
          <a:p>
            <a:pPr indent="0" marL="0">
              <a:buNone/>
            </a:pPr>
            <a:r>
              <a:rPr lang="en-US" sz="1100" b="1" dirty="0">
                <a:solidFill>
                  <a:srgbClr val="187D7C"/>
                </a:solidFill>
                <a:latin typeface="Lato" pitchFamily="34" charset="0"/>
                <a:ea typeface="Lato" pitchFamily="34" charset="-122"/>
                <a:cs typeface="Lato" pitchFamily="34" charset="-120"/>
              </a:rPr>
              <a:t>WHY</a:t>
            </a:r>
            <a:endParaRPr lang="en-US" sz="1100" dirty="0"/>
          </a:p>
        </p:txBody>
      </p:sp>
      <p:sp>
        <p:nvSpPr>
          <p:cNvPr id="31" name="Text 29"/>
          <p:cNvSpPr/>
          <p:nvPr/>
        </p:nvSpPr>
        <p:spPr>
          <a:xfrm>
            <a:off x="4379976" y="5660136"/>
            <a:ext cx="3429000" cy="475488"/>
          </a:xfrm>
          <a:prstGeom prst="rect">
            <a:avLst/>
          </a:prstGeom>
          <a:noFill/>
          <a:ln/>
        </p:spPr>
        <p:txBody>
          <a:bodyPr wrap="square" lIns="0" tIns="0" rIns="0" bIns="0" rtlCol="0" anchor="t"/>
          <a:lstStyle/>
          <a:p>
            <a:pPr indent="0" marL="0">
              <a:buNone/>
            </a:pPr>
            <a:r>
              <a:rPr lang="en-US" sz="1700" b="1" dirty="0">
                <a:solidFill>
                  <a:srgbClr val="193D4D"/>
                </a:solidFill>
                <a:latin typeface="Lato" pitchFamily="34" charset="0"/>
                <a:ea typeface="Lato" pitchFamily="34" charset="-122"/>
                <a:cs typeface="Lato" pitchFamily="34" charset="-120"/>
              </a:rPr>
              <a:t>The choice becomes reviewable.</a:t>
            </a:r>
            <a:endParaRPr lang="en-US" sz="1700" dirty="0"/>
          </a:p>
        </p:txBody>
      </p:sp>
      <p:sp>
        <p:nvSpPr>
          <p:cNvPr id="32" name="Text 30"/>
          <p:cNvSpPr/>
          <p:nvPr/>
        </p:nvSpPr>
        <p:spPr>
          <a:xfrm>
            <a:off x="8165592" y="5340096"/>
            <a:ext cx="3429000" cy="210312"/>
          </a:xfrm>
          <a:prstGeom prst="rect">
            <a:avLst/>
          </a:prstGeom>
          <a:noFill/>
          <a:ln/>
        </p:spPr>
        <p:txBody>
          <a:bodyPr wrap="square" lIns="0" tIns="0" rIns="0" bIns="0" rtlCol="0" anchor="t"/>
          <a:lstStyle/>
          <a:p>
            <a:pPr indent="0" marL="0">
              <a:buNone/>
            </a:pPr>
            <a:r>
              <a:rPr lang="en-US" sz="1100" b="1" dirty="0">
                <a:solidFill>
                  <a:srgbClr val="187D7C"/>
                </a:solidFill>
                <a:latin typeface="Lato" pitchFamily="34" charset="0"/>
                <a:ea typeface="Lato" pitchFamily="34" charset="-122"/>
                <a:cs typeface="Lato" pitchFamily="34" charset="-120"/>
              </a:rPr>
              <a:t>WHY NOT</a:t>
            </a:r>
            <a:endParaRPr lang="en-US" sz="1100" dirty="0"/>
          </a:p>
        </p:txBody>
      </p:sp>
      <p:sp>
        <p:nvSpPr>
          <p:cNvPr id="33" name="Text 31"/>
          <p:cNvSpPr/>
          <p:nvPr/>
        </p:nvSpPr>
        <p:spPr>
          <a:xfrm>
            <a:off x="8165592" y="5660136"/>
            <a:ext cx="3429000" cy="475488"/>
          </a:xfrm>
          <a:prstGeom prst="rect">
            <a:avLst/>
          </a:prstGeom>
          <a:noFill/>
          <a:ln/>
        </p:spPr>
        <p:txBody>
          <a:bodyPr wrap="square" lIns="0" tIns="0" rIns="0" bIns="0" rtlCol="0" anchor="t"/>
          <a:lstStyle/>
          <a:p>
            <a:pPr indent="0" marL="0">
              <a:buNone/>
            </a:pPr>
            <a:r>
              <a:rPr lang="en-US" sz="1700" b="1" dirty="0">
                <a:solidFill>
                  <a:srgbClr val="193D4D"/>
                </a:solidFill>
                <a:latin typeface="Lato" pitchFamily="34" charset="0"/>
                <a:ea typeface="Lato" pitchFamily="34" charset="-122"/>
                <a:cs typeface="Lato" pitchFamily="34" charset="-120"/>
              </a:rPr>
              <a:t>A fluent answer is not a check.</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274320"/>
            <a:ext cx="7315200" cy="210312"/>
          </a:xfrm>
          <a:prstGeom prst="rect">
            <a:avLst/>
          </a:prstGeom>
          <a:noFill/>
          <a:ln/>
        </p:spPr>
        <p:txBody>
          <a:bodyPr wrap="square" lIns="0" tIns="0" rIns="0" bIns="0" rtlCol="0" anchor="t"/>
          <a:lstStyle/>
          <a:p>
            <a:pPr indent="0" marL="0">
              <a:buNone/>
            </a:pPr>
            <a:r>
              <a:rPr lang="en-US" sz="1000" b="1" dirty="0">
                <a:solidFill>
                  <a:srgbClr val="193D4D"/>
                </a:solidFill>
                <a:latin typeface="Lato" pitchFamily="34" charset="0"/>
                <a:ea typeface="Lato" pitchFamily="34" charset="-122"/>
                <a:cs typeface="Lato" pitchFamily="34" charset="-120"/>
              </a:rPr>
              <a:t>SAS TO PYTHON  /  LLM COLLABORATION</a:t>
            </a:r>
            <a:endParaRPr lang="en-US" sz="1000" dirty="0"/>
          </a:p>
        </p:txBody>
      </p:sp>
      <p:sp>
        <p:nvSpPr>
          <p:cNvPr id="3" name="Text 1"/>
          <p:cNvSpPr/>
          <p:nvPr/>
        </p:nvSpPr>
        <p:spPr>
          <a:xfrm>
            <a:off x="8229600" y="274320"/>
            <a:ext cx="3337560" cy="210312"/>
          </a:xfrm>
          <a:prstGeom prst="rect">
            <a:avLst/>
          </a:prstGeom>
          <a:noFill/>
          <a:ln/>
        </p:spPr>
        <p:txBody>
          <a:bodyPr wrap="square" lIns="0" tIns="0" rIns="0" bIns="0" rtlCol="0" anchor="t"/>
          <a:lstStyle/>
          <a:p>
            <a:pPr algn="r" indent="0" marL="0">
              <a:buNone/>
            </a:pPr>
            <a:r>
              <a:rPr lang="en-US" sz="1000" b="1" dirty="0">
                <a:solidFill>
                  <a:srgbClr val="187D7C"/>
                </a:solidFill>
                <a:latin typeface="Lato" pitchFamily="34" charset="0"/>
                <a:ea typeface="Lato" pitchFamily="34" charset="-122"/>
                <a:cs typeface="Lato" pitchFamily="34" charset="-120"/>
              </a:rPr>
              <a:t>THE ACCEPTANCE EVIDENCE</a:t>
            </a:r>
            <a:endParaRPr lang="en-US" sz="1000" dirty="0"/>
          </a:p>
        </p:txBody>
      </p:sp>
      <p:sp>
        <p:nvSpPr>
          <p:cNvPr id="4" name="Text 2"/>
          <p:cNvSpPr/>
          <p:nvPr/>
        </p:nvSpPr>
        <p:spPr>
          <a:xfrm>
            <a:off x="594360" y="804672"/>
            <a:ext cx="10972800" cy="621792"/>
          </a:xfrm>
          <a:prstGeom prst="rect">
            <a:avLst/>
          </a:prstGeom>
          <a:noFill/>
          <a:ln/>
        </p:spPr>
        <p:txBody>
          <a:bodyPr wrap="square" lIns="0" tIns="0" rIns="0" bIns="0" rtlCol="0" anchor="t"/>
          <a:lstStyle/>
          <a:p>
            <a:pPr indent="0" marL="0">
              <a:buNone/>
            </a:pPr>
            <a:r>
              <a:rPr lang="en-US" sz="3100" b="1" dirty="0">
                <a:solidFill>
                  <a:srgbClr val="193D4D"/>
                </a:solidFill>
                <a:latin typeface="Lato" pitchFamily="34" charset="0"/>
                <a:ea typeface="Lato" pitchFamily="34" charset="-122"/>
                <a:cs typeface="Lato" pitchFamily="34" charset="-120"/>
              </a:rPr>
              <a:t>Check the result, not the prose</a:t>
            </a:r>
            <a:endParaRPr lang="en-US" sz="3100" dirty="0"/>
          </a:p>
        </p:txBody>
      </p:sp>
      <p:sp>
        <p:nvSpPr>
          <p:cNvPr id="5" name="Text 3"/>
          <p:cNvSpPr/>
          <p:nvPr/>
        </p:nvSpPr>
        <p:spPr>
          <a:xfrm>
            <a:off x="594360" y="1426464"/>
            <a:ext cx="10972800" cy="402336"/>
          </a:xfrm>
          <a:prstGeom prst="rect">
            <a:avLst/>
          </a:prstGeom>
          <a:noFill/>
          <a:ln/>
        </p:spPr>
        <p:txBody>
          <a:bodyPr wrap="square" lIns="0" tIns="0" rIns="0" bIns="0" rtlCol="0" anchor="t"/>
          <a:lstStyle/>
          <a:p>
            <a:pPr indent="0" marL="0">
              <a:buNone/>
            </a:pPr>
            <a:r>
              <a:rPr lang="en-US" sz="1600" dirty="0">
                <a:solidFill>
                  <a:srgbClr val="61747C"/>
                </a:solidFill>
                <a:latin typeface="Lato" pitchFamily="34" charset="0"/>
                <a:ea typeface="Lato" pitchFamily="34" charset="-122"/>
                <a:cs typeface="Lato" pitchFamily="34" charset="-120"/>
              </a:rPr>
              <a:t>Use fixed expectations and a reviewed implementation. Keep ordinary, edge, and preservation checks distinct.</a:t>
            </a:r>
            <a:endParaRPr lang="en-US" sz="1600" dirty="0"/>
          </a:p>
        </p:txBody>
      </p:sp>
      <p:sp>
        <p:nvSpPr>
          <p:cNvPr id="6" name="Shape 4"/>
          <p:cNvSpPr/>
          <p:nvPr/>
        </p:nvSpPr>
        <p:spPr>
          <a:xfrm>
            <a:off x="594360" y="6400800"/>
            <a:ext cx="11000232" cy="0"/>
          </a:xfrm>
          <a:prstGeom prst="line">
            <a:avLst/>
          </a:prstGeom>
          <a:noFill/>
          <a:ln w="8255">
            <a:solidFill>
              <a:srgbClr val="D8E2E0"/>
            </a:solidFill>
            <a:prstDash val="solid"/>
          </a:ln>
        </p:spPr>
      </p:sp>
      <p:sp>
        <p:nvSpPr>
          <p:cNvPr id="7" name="Text 5"/>
          <p:cNvSpPr/>
          <p:nvPr/>
        </p:nvSpPr>
        <p:spPr>
          <a:xfrm>
            <a:off x="594360" y="6528816"/>
            <a:ext cx="8046720" cy="164592"/>
          </a:xfrm>
          <a:prstGeom prst="rect">
            <a:avLst/>
          </a:prstGeom>
          <a:noFill/>
          <a:ln/>
        </p:spPr>
        <p:txBody>
          <a:bodyPr wrap="square" lIns="0" tIns="0" rIns="0" bIns="0" rtlCol="0" anchor="t"/>
          <a:lstStyle/>
          <a:p>
            <a:pPr indent="0" marL="0">
              <a:buNone/>
            </a:pPr>
            <a:r>
              <a:rPr lang="en-US" sz="900" dirty="0">
                <a:solidFill>
                  <a:srgbClr val="61747C"/>
                </a:solidFill>
                <a:latin typeface="Lato" pitchFamily="34" charset="0"/>
                <a:ea typeface="Lato" pitchFamily="34" charset="-122"/>
                <a:cs typeface="Lato" pitchFamily="34" charset="-120"/>
              </a:rPr>
              <a:t>PILOT v0.1  |  TEAM REVIEW  |  25 SEP 2026</a:t>
            </a:r>
            <a:endParaRPr lang="en-US" sz="900" dirty="0"/>
          </a:p>
        </p:txBody>
      </p:sp>
      <p:sp>
        <p:nvSpPr>
          <p:cNvPr id="8" name="Text 6"/>
          <p:cNvSpPr/>
          <p:nvPr/>
        </p:nvSpPr>
        <p:spPr>
          <a:xfrm>
            <a:off x="10789920" y="6510528"/>
            <a:ext cx="777240" cy="192024"/>
          </a:xfrm>
          <a:prstGeom prst="rect">
            <a:avLst/>
          </a:prstGeom>
          <a:noFill/>
          <a:ln/>
        </p:spPr>
        <p:txBody>
          <a:bodyPr wrap="square" lIns="0" tIns="0" rIns="0" bIns="0" rtlCol="0" anchor="t"/>
          <a:lstStyle/>
          <a:p>
            <a:pPr algn="r" indent="0" marL="0">
              <a:buNone/>
            </a:pPr>
            <a:r>
              <a:rPr lang="en-US" sz="1000" dirty="0">
                <a:solidFill>
                  <a:srgbClr val="61747C"/>
                </a:solidFill>
                <a:latin typeface="Lato" pitchFamily="34" charset="0"/>
                <a:ea typeface="Lato" pitchFamily="34" charset="-122"/>
                <a:cs typeface="Lato" pitchFamily="34" charset="-120"/>
              </a:rPr>
              <a:t>05 / 08</a:t>
            </a:r>
            <a:endParaRPr lang="en-US" sz="1000" dirty="0"/>
          </a:p>
        </p:txBody>
      </p:sp>
      <p:sp>
        <p:nvSpPr>
          <p:cNvPr id="9" name="Shape 7"/>
          <p:cNvSpPr/>
          <p:nvPr/>
        </p:nvSpPr>
        <p:spPr>
          <a:xfrm>
            <a:off x="594360" y="2029968"/>
            <a:ext cx="4992624" cy="402336"/>
          </a:xfrm>
          <a:prstGeom prst="rect">
            <a:avLst/>
          </a:prstGeom>
          <a:solidFill>
            <a:srgbClr val="193D4D"/>
          </a:solidFill>
          <a:ln w="6350">
            <a:solidFill>
              <a:srgbClr val="193D4D"/>
            </a:solidFill>
            <a:prstDash val="solid"/>
          </a:ln>
        </p:spPr>
      </p:sp>
      <p:sp>
        <p:nvSpPr>
          <p:cNvPr id="10" name="Text 8"/>
          <p:cNvSpPr/>
          <p:nvPr/>
        </p:nvSpPr>
        <p:spPr>
          <a:xfrm>
            <a:off x="758952" y="2139696"/>
            <a:ext cx="3291840" cy="182880"/>
          </a:xfrm>
          <a:prstGeom prst="rect">
            <a:avLst/>
          </a:prstGeom>
          <a:noFill/>
          <a:ln/>
        </p:spPr>
        <p:txBody>
          <a:bodyPr wrap="square" lIns="0" tIns="0" rIns="0" bIns="0" rtlCol="0" anchor="t"/>
          <a:lstStyle/>
          <a:p>
            <a:pPr indent="0" marL="0">
              <a:buNone/>
            </a:pPr>
            <a:r>
              <a:rPr lang="en-US" sz="1100" b="1" dirty="0">
                <a:solidFill>
                  <a:srgbClr val="FFFFFF"/>
                </a:solidFill>
                <a:latin typeface="Lato" pitchFamily="34" charset="0"/>
                <a:ea typeface="Lato" pitchFamily="34" charset="-122"/>
                <a:cs typeface="Lato" pitchFamily="34" charset="-120"/>
              </a:rPr>
              <a:t>INPUT x, y, z</a:t>
            </a:r>
            <a:endParaRPr lang="en-US" sz="1100" dirty="0"/>
          </a:p>
        </p:txBody>
      </p:sp>
      <p:sp>
        <p:nvSpPr>
          <p:cNvPr id="11" name="Text 9"/>
          <p:cNvSpPr/>
          <p:nvPr/>
        </p:nvSpPr>
        <p:spPr>
          <a:xfrm>
            <a:off x="4014216" y="2139696"/>
            <a:ext cx="1417320" cy="182880"/>
          </a:xfrm>
          <a:prstGeom prst="rect">
            <a:avLst/>
          </a:prstGeom>
          <a:noFill/>
          <a:ln/>
        </p:spPr>
        <p:txBody>
          <a:bodyPr wrap="square" lIns="0" tIns="0" rIns="0" bIns="0" rtlCol="0" anchor="t"/>
          <a:lstStyle/>
          <a:p>
            <a:pPr indent="0" marL="0">
              <a:buNone/>
            </a:pPr>
            <a:r>
              <a:rPr lang="en-US" sz="1100" b="1" dirty="0">
                <a:solidFill>
                  <a:srgbClr val="FFFFFF"/>
                </a:solidFill>
                <a:latin typeface="Lato" pitchFamily="34" charset="0"/>
                <a:ea typeface="Lato" pitchFamily="34" charset="-122"/>
                <a:cs typeface="Lato" pitchFamily="34" charset="-120"/>
              </a:rPr>
              <a:t>EXPECTED</a:t>
            </a:r>
            <a:endParaRPr lang="en-US" sz="1100" dirty="0"/>
          </a:p>
        </p:txBody>
      </p:sp>
      <p:sp>
        <p:nvSpPr>
          <p:cNvPr id="12" name="Shape 10"/>
          <p:cNvSpPr/>
          <p:nvPr/>
        </p:nvSpPr>
        <p:spPr>
          <a:xfrm>
            <a:off x="594360" y="2432304"/>
            <a:ext cx="4992624" cy="448056"/>
          </a:xfrm>
          <a:prstGeom prst="rect">
            <a:avLst/>
          </a:prstGeom>
          <a:solidFill>
            <a:srgbClr val="EAF4F1"/>
          </a:solidFill>
          <a:ln w="6350">
            <a:solidFill>
              <a:srgbClr val="EAF4F1"/>
            </a:solidFill>
            <a:prstDash val="solid"/>
          </a:ln>
        </p:spPr>
      </p:sp>
      <p:sp>
        <p:nvSpPr>
          <p:cNvPr id="13" name="Text 11"/>
          <p:cNvSpPr/>
          <p:nvPr/>
        </p:nvSpPr>
        <p:spPr>
          <a:xfrm>
            <a:off x="758952" y="2532888"/>
            <a:ext cx="3282696" cy="237744"/>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1, 2, 3</a:t>
            </a:r>
            <a:endParaRPr lang="en-US" sz="1600" dirty="0"/>
          </a:p>
        </p:txBody>
      </p:sp>
      <p:sp>
        <p:nvSpPr>
          <p:cNvPr id="14" name="Text 12"/>
          <p:cNvSpPr/>
          <p:nvPr/>
        </p:nvSpPr>
        <p:spPr>
          <a:xfrm>
            <a:off x="4014216" y="2532888"/>
            <a:ext cx="1426464" cy="237744"/>
          </a:xfrm>
          <a:prstGeom prst="rect">
            <a:avLst/>
          </a:prstGeom>
          <a:noFill/>
          <a:ln/>
        </p:spPr>
        <p:txBody>
          <a:bodyPr wrap="square" lIns="0" tIns="0" rIns="0" bIns="0" rtlCol="0" anchor="t"/>
          <a:lstStyle/>
          <a:p>
            <a:pPr indent="0" marL="0">
              <a:buNone/>
            </a:pPr>
            <a:r>
              <a:rPr lang="en-US" sz="1600" b="1" dirty="0">
                <a:solidFill>
                  <a:srgbClr val="193D4D"/>
                </a:solidFill>
                <a:latin typeface="Lato" pitchFamily="34" charset="0"/>
                <a:ea typeface="Lato" pitchFamily="34" charset="-122"/>
                <a:cs typeface="Lato" pitchFamily="34" charset="-120"/>
              </a:rPr>
              <a:t>2.0</a:t>
            </a:r>
            <a:endParaRPr lang="en-US" sz="1600" dirty="0"/>
          </a:p>
        </p:txBody>
      </p:sp>
      <p:sp>
        <p:nvSpPr>
          <p:cNvPr id="15" name="Shape 13"/>
          <p:cNvSpPr/>
          <p:nvPr/>
        </p:nvSpPr>
        <p:spPr>
          <a:xfrm>
            <a:off x="594360" y="2880360"/>
            <a:ext cx="4992624" cy="448056"/>
          </a:xfrm>
          <a:prstGeom prst="rect">
            <a:avLst/>
          </a:prstGeom>
          <a:solidFill>
            <a:srgbClr val="FFFFFF"/>
          </a:solidFill>
          <a:ln w="6350">
            <a:solidFill>
              <a:srgbClr val="FFFFFF"/>
            </a:solidFill>
            <a:prstDash val="solid"/>
          </a:ln>
        </p:spPr>
      </p:sp>
      <p:sp>
        <p:nvSpPr>
          <p:cNvPr id="16" name="Text 14"/>
          <p:cNvSpPr/>
          <p:nvPr/>
        </p:nvSpPr>
        <p:spPr>
          <a:xfrm>
            <a:off x="758952" y="2980944"/>
            <a:ext cx="3282696" cy="237744"/>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4, missing, 6</a:t>
            </a:r>
            <a:endParaRPr lang="en-US" sz="1600" dirty="0"/>
          </a:p>
        </p:txBody>
      </p:sp>
      <p:sp>
        <p:nvSpPr>
          <p:cNvPr id="17" name="Text 15"/>
          <p:cNvSpPr/>
          <p:nvPr/>
        </p:nvSpPr>
        <p:spPr>
          <a:xfrm>
            <a:off x="4014216" y="2980944"/>
            <a:ext cx="1426464" cy="237744"/>
          </a:xfrm>
          <a:prstGeom prst="rect">
            <a:avLst/>
          </a:prstGeom>
          <a:noFill/>
          <a:ln/>
        </p:spPr>
        <p:txBody>
          <a:bodyPr wrap="square" lIns="0" tIns="0" rIns="0" bIns="0" rtlCol="0" anchor="t"/>
          <a:lstStyle/>
          <a:p>
            <a:pPr indent="0" marL="0">
              <a:buNone/>
            </a:pPr>
            <a:r>
              <a:rPr lang="en-US" sz="1600" b="1" dirty="0">
                <a:solidFill>
                  <a:srgbClr val="193D4D"/>
                </a:solidFill>
                <a:latin typeface="Lato" pitchFamily="34" charset="0"/>
                <a:ea typeface="Lato" pitchFamily="34" charset="-122"/>
                <a:cs typeface="Lato" pitchFamily="34" charset="-120"/>
              </a:rPr>
              <a:t>5.0</a:t>
            </a:r>
            <a:endParaRPr lang="en-US" sz="1600" dirty="0"/>
          </a:p>
        </p:txBody>
      </p:sp>
      <p:sp>
        <p:nvSpPr>
          <p:cNvPr id="18" name="Shape 16"/>
          <p:cNvSpPr/>
          <p:nvPr/>
        </p:nvSpPr>
        <p:spPr>
          <a:xfrm>
            <a:off x="594360" y="3328416"/>
            <a:ext cx="4992624" cy="448056"/>
          </a:xfrm>
          <a:prstGeom prst="rect">
            <a:avLst/>
          </a:prstGeom>
          <a:solidFill>
            <a:srgbClr val="EAF4F1"/>
          </a:solidFill>
          <a:ln w="6350">
            <a:solidFill>
              <a:srgbClr val="EAF4F1"/>
            </a:solidFill>
            <a:prstDash val="solid"/>
          </a:ln>
        </p:spPr>
      </p:sp>
      <p:sp>
        <p:nvSpPr>
          <p:cNvPr id="19" name="Text 17"/>
          <p:cNvSpPr/>
          <p:nvPr/>
        </p:nvSpPr>
        <p:spPr>
          <a:xfrm>
            <a:off x="758952" y="3429000"/>
            <a:ext cx="3282696" cy="237744"/>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all missing</a:t>
            </a:r>
            <a:endParaRPr lang="en-US" sz="1600" dirty="0"/>
          </a:p>
        </p:txBody>
      </p:sp>
      <p:sp>
        <p:nvSpPr>
          <p:cNvPr id="20" name="Text 18"/>
          <p:cNvSpPr/>
          <p:nvPr/>
        </p:nvSpPr>
        <p:spPr>
          <a:xfrm>
            <a:off x="4014216" y="3429000"/>
            <a:ext cx="1426464" cy="237744"/>
          </a:xfrm>
          <a:prstGeom prst="rect">
            <a:avLst/>
          </a:prstGeom>
          <a:noFill/>
          <a:ln/>
        </p:spPr>
        <p:txBody>
          <a:bodyPr wrap="square" lIns="0" tIns="0" rIns="0" bIns="0" rtlCol="0" anchor="t"/>
          <a:lstStyle/>
          <a:p>
            <a:pPr indent="0" marL="0">
              <a:buNone/>
            </a:pPr>
            <a:r>
              <a:rPr lang="en-US" sz="1600" b="1" dirty="0">
                <a:solidFill>
                  <a:srgbClr val="193D4D"/>
                </a:solidFill>
                <a:latin typeface="Lato" pitchFamily="34" charset="0"/>
                <a:ea typeface="Lato" pitchFamily="34" charset="-122"/>
                <a:cs typeface="Lato" pitchFamily="34" charset="-120"/>
              </a:rPr>
              <a:t>missing</a:t>
            </a:r>
            <a:endParaRPr lang="en-US" sz="1600" dirty="0"/>
          </a:p>
        </p:txBody>
      </p:sp>
      <p:sp>
        <p:nvSpPr>
          <p:cNvPr id="21" name="Shape 19"/>
          <p:cNvSpPr/>
          <p:nvPr/>
        </p:nvSpPr>
        <p:spPr>
          <a:xfrm>
            <a:off x="594360" y="3776472"/>
            <a:ext cx="4992624" cy="448056"/>
          </a:xfrm>
          <a:prstGeom prst="rect">
            <a:avLst/>
          </a:prstGeom>
          <a:solidFill>
            <a:srgbClr val="FFFFFF"/>
          </a:solidFill>
          <a:ln w="6350">
            <a:solidFill>
              <a:srgbClr val="FFFFFF"/>
            </a:solidFill>
            <a:prstDash val="solid"/>
          </a:ln>
        </p:spPr>
      </p:sp>
      <p:sp>
        <p:nvSpPr>
          <p:cNvPr id="22" name="Text 20"/>
          <p:cNvSpPr/>
          <p:nvPr/>
        </p:nvSpPr>
        <p:spPr>
          <a:xfrm>
            <a:off x="758952" y="3877056"/>
            <a:ext cx="3282696" cy="237744"/>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0, missing, missing</a:t>
            </a:r>
            <a:endParaRPr lang="en-US" sz="1600" dirty="0"/>
          </a:p>
        </p:txBody>
      </p:sp>
      <p:sp>
        <p:nvSpPr>
          <p:cNvPr id="23" name="Text 21"/>
          <p:cNvSpPr/>
          <p:nvPr/>
        </p:nvSpPr>
        <p:spPr>
          <a:xfrm>
            <a:off x="4014216" y="3877056"/>
            <a:ext cx="1426464" cy="237744"/>
          </a:xfrm>
          <a:prstGeom prst="rect">
            <a:avLst/>
          </a:prstGeom>
          <a:noFill/>
          <a:ln/>
        </p:spPr>
        <p:txBody>
          <a:bodyPr wrap="square" lIns="0" tIns="0" rIns="0" bIns="0" rtlCol="0" anchor="t"/>
          <a:lstStyle/>
          <a:p>
            <a:pPr indent="0" marL="0">
              <a:buNone/>
            </a:pPr>
            <a:r>
              <a:rPr lang="en-US" sz="1600" b="1" dirty="0">
                <a:solidFill>
                  <a:srgbClr val="193D4D"/>
                </a:solidFill>
                <a:latin typeface="Lato" pitchFamily="34" charset="0"/>
                <a:ea typeface="Lato" pitchFamily="34" charset="-122"/>
                <a:cs typeface="Lato" pitchFamily="34" charset="-120"/>
              </a:rPr>
              <a:t>0.0</a:t>
            </a:r>
            <a:endParaRPr lang="en-US" sz="1600" dirty="0"/>
          </a:p>
        </p:txBody>
      </p:sp>
      <p:sp>
        <p:nvSpPr>
          <p:cNvPr id="24" name="Shape 22"/>
          <p:cNvSpPr/>
          <p:nvPr/>
        </p:nvSpPr>
        <p:spPr>
          <a:xfrm>
            <a:off x="594360" y="4224528"/>
            <a:ext cx="4992624" cy="448056"/>
          </a:xfrm>
          <a:prstGeom prst="rect">
            <a:avLst/>
          </a:prstGeom>
          <a:solidFill>
            <a:srgbClr val="EAF4F1"/>
          </a:solidFill>
          <a:ln w="6350">
            <a:solidFill>
              <a:srgbClr val="EAF4F1"/>
            </a:solidFill>
            <a:prstDash val="solid"/>
          </a:ln>
        </p:spPr>
      </p:sp>
      <p:sp>
        <p:nvSpPr>
          <p:cNvPr id="25" name="Text 23"/>
          <p:cNvSpPr/>
          <p:nvPr/>
        </p:nvSpPr>
        <p:spPr>
          <a:xfrm>
            <a:off x="758952" y="4325112"/>
            <a:ext cx="3282696" cy="237744"/>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missing, -6, missing</a:t>
            </a:r>
            <a:endParaRPr lang="en-US" sz="1600" dirty="0"/>
          </a:p>
        </p:txBody>
      </p:sp>
      <p:sp>
        <p:nvSpPr>
          <p:cNvPr id="26" name="Text 24"/>
          <p:cNvSpPr/>
          <p:nvPr/>
        </p:nvSpPr>
        <p:spPr>
          <a:xfrm>
            <a:off x="4014216" y="4325112"/>
            <a:ext cx="1426464" cy="237744"/>
          </a:xfrm>
          <a:prstGeom prst="rect">
            <a:avLst/>
          </a:prstGeom>
          <a:noFill/>
          <a:ln/>
        </p:spPr>
        <p:txBody>
          <a:bodyPr wrap="square" lIns="0" tIns="0" rIns="0" bIns="0" rtlCol="0" anchor="t"/>
          <a:lstStyle/>
          <a:p>
            <a:pPr indent="0" marL="0">
              <a:buNone/>
            </a:pPr>
            <a:r>
              <a:rPr lang="en-US" sz="1600" b="1" dirty="0">
                <a:solidFill>
                  <a:srgbClr val="193D4D"/>
                </a:solidFill>
                <a:latin typeface="Lato" pitchFamily="34" charset="0"/>
                <a:ea typeface="Lato" pitchFamily="34" charset="-122"/>
                <a:cs typeface="Lato" pitchFamily="34" charset="-120"/>
              </a:rPr>
              <a:t>-6.0</a:t>
            </a:r>
            <a:endParaRPr lang="en-US" sz="1600" dirty="0"/>
          </a:p>
        </p:txBody>
      </p:sp>
      <p:sp>
        <p:nvSpPr>
          <p:cNvPr id="27" name="Shape 25"/>
          <p:cNvSpPr/>
          <p:nvPr/>
        </p:nvSpPr>
        <p:spPr>
          <a:xfrm>
            <a:off x="5806440" y="2029968"/>
            <a:ext cx="5788152" cy="804672"/>
          </a:xfrm>
          <a:prstGeom prst="rect">
            <a:avLst/>
          </a:prstGeom>
          <a:solidFill>
            <a:srgbClr val="FFFFFF"/>
          </a:solidFill>
          <a:ln w="6350">
            <a:solidFill>
              <a:srgbClr val="FFFFFF"/>
            </a:solidFill>
            <a:prstDash val="solid"/>
          </a:ln>
        </p:spPr>
      </p:sp>
      <p:sp>
        <p:nvSpPr>
          <p:cNvPr id="28" name="Text 26"/>
          <p:cNvSpPr/>
          <p:nvPr/>
        </p:nvSpPr>
        <p:spPr>
          <a:xfrm>
            <a:off x="6007608" y="2167128"/>
            <a:ext cx="5394960" cy="210312"/>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T1 / KNOWN ANSWERS</a:t>
            </a:r>
            <a:endParaRPr lang="en-US" sz="1200" dirty="0"/>
          </a:p>
        </p:txBody>
      </p:sp>
      <p:sp>
        <p:nvSpPr>
          <p:cNvPr id="29" name="Text 27"/>
          <p:cNvSpPr/>
          <p:nvPr/>
        </p:nvSpPr>
        <p:spPr>
          <a:xfrm>
            <a:off x="6007608" y="2459736"/>
            <a:ext cx="5394960" cy="237744"/>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Original values and missing positions.</a:t>
            </a:r>
            <a:endParaRPr lang="en-US" sz="1700" dirty="0"/>
          </a:p>
        </p:txBody>
      </p:sp>
      <p:sp>
        <p:nvSpPr>
          <p:cNvPr id="30" name="Shape 28"/>
          <p:cNvSpPr/>
          <p:nvPr/>
        </p:nvSpPr>
        <p:spPr>
          <a:xfrm>
            <a:off x="5806440" y="2935224"/>
            <a:ext cx="5788152" cy="804672"/>
          </a:xfrm>
          <a:prstGeom prst="rect">
            <a:avLst/>
          </a:prstGeom>
          <a:solidFill>
            <a:srgbClr val="FFFFFF"/>
          </a:solidFill>
          <a:ln w="6350">
            <a:solidFill>
              <a:srgbClr val="FFFFFF"/>
            </a:solidFill>
            <a:prstDash val="solid"/>
          </a:ln>
        </p:spPr>
      </p:sp>
      <p:sp>
        <p:nvSpPr>
          <p:cNvPr id="31" name="Text 29"/>
          <p:cNvSpPr/>
          <p:nvPr/>
        </p:nvSpPr>
        <p:spPr>
          <a:xfrm>
            <a:off x="6007608" y="3072384"/>
            <a:ext cx="5394960" cy="210312"/>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T2 / DISCRIMINATING CASES</a:t>
            </a:r>
            <a:endParaRPr lang="en-US" sz="1200" dirty="0"/>
          </a:p>
        </p:txBody>
      </p:sp>
      <p:sp>
        <p:nvSpPr>
          <p:cNvPr id="32" name="Text 30"/>
          <p:cNvSpPr/>
          <p:nvPr/>
        </p:nvSpPr>
        <p:spPr>
          <a:xfrm>
            <a:off x="6007608" y="3364992"/>
            <a:ext cx="5394960" cy="237744"/>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Zero and a lone negative value.</a:t>
            </a:r>
            <a:endParaRPr lang="en-US" sz="1700" dirty="0"/>
          </a:p>
        </p:txBody>
      </p:sp>
      <p:sp>
        <p:nvSpPr>
          <p:cNvPr id="33" name="Shape 31"/>
          <p:cNvSpPr/>
          <p:nvPr/>
        </p:nvSpPr>
        <p:spPr>
          <a:xfrm>
            <a:off x="5806440" y="3840480"/>
            <a:ext cx="5788152" cy="804672"/>
          </a:xfrm>
          <a:prstGeom prst="rect">
            <a:avLst/>
          </a:prstGeom>
          <a:solidFill>
            <a:srgbClr val="FFFFFF"/>
          </a:solidFill>
          <a:ln w="6350">
            <a:solidFill>
              <a:srgbClr val="FFFFFF"/>
            </a:solidFill>
            <a:prstDash val="solid"/>
          </a:ln>
        </p:spPr>
      </p:sp>
      <p:sp>
        <p:nvSpPr>
          <p:cNvPr id="34" name="Text 32"/>
          <p:cNvSpPr/>
          <p:nvPr/>
        </p:nvSpPr>
        <p:spPr>
          <a:xfrm>
            <a:off x="6007608" y="3977640"/>
            <a:ext cx="5394960" cy="210312"/>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T3 / PRESERVATION</a:t>
            </a:r>
            <a:endParaRPr lang="en-US" sz="1200" dirty="0"/>
          </a:p>
        </p:txBody>
      </p:sp>
      <p:sp>
        <p:nvSpPr>
          <p:cNvPr id="35" name="Text 33"/>
          <p:cNvSpPr/>
          <p:nvPr/>
        </p:nvSpPr>
        <p:spPr>
          <a:xfrm>
            <a:off x="6007608" y="4270248"/>
            <a:ext cx="5394960" cy="237744"/>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Input unchanged; output structure retained.</a:t>
            </a:r>
            <a:endParaRPr lang="en-US" sz="1700" dirty="0"/>
          </a:p>
        </p:txBody>
      </p:sp>
      <p:sp>
        <p:nvSpPr>
          <p:cNvPr id="36" name="Text 34"/>
          <p:cNvSpPr/>
          <p:nvPr/>
        </p:nvSpPr>
        <p:spPr>
          <a:xfrm>
            <a:off x="594360" y="5074920"/>
            <a:ext cx="10972800" cy="347472"/>
          </a:xfrm>
          <a:prstGeom prst="rect">
            <a:avLst/>
          </a:prstGeom>
          <a:noFill/>
          <a:ln/>
        </p:spPr>
        <p:txBody>
          <a:bodyPr wrap="square" lIns="0" tIns="0" rIns="0" bIns="0" rtlCol="0" anchor="t"/>
          <a:lstStyle/>
          <a:p>
            <a:pPr indent="0" marL="0">
              <a:buNone/>
            </a:pPr>
            <a:r>
              <a:rPr lang="en-US" sz="2200" b="1" dirty="0">
                <a:solidFill>
                  <a:srgbClr val="193D4D"/>
                </a:solidFill>
                <a:latin typeface="Lato" pitchFamily="34" charset="0"/>
                <a:ea typeface="Lato" pitchFamily="34" charset="-122"/>
                <a:cs typeface="Lato" pitchFamily="34" charset="-120"/>
              </a:rPr>
              <a:t>Three named tests do not prove universal equivalence.</a:t>
            </a:r>
            <a:endParaRPr lang="en-US" sz="2200" dirty="0"/>
          </a:p>
        </p:txBody>
      </p:sp>
      <p:sp>
        <p:nvSpPr>
          <p:cNvPr id="37" name="Shape 35"/>
          <p:cNvSpPr/>
          <p:nvPr/>
        </p:nvSpPr>
        <p:spPr>
          <a:xfrm>
            <a:off x="594360" y="5605272"/>
            <a:ext cx="11000232" cy="512064"/>
          </a:xfrm>
          <a:prstGeom prst="rect">
            <a:avLst/>
          </a:prstGeom>
          <a:solidFill>
            <a:srgbClr val="EAF4F1"/>
          </a:solidFill>
          <a:ln w="6350">
            <a:solidFill>
              <a:srgbClr val="EAF4F1"/>
            </a:solidFill>
            <a:prstDash val="solid"/>
          </a:ln>
        </p:spPr>
      </p:sp>
      <p:sp>
        <p:nvSpPr>
          <p:cNvPr id="38" name="Text 36"/>
          <p:cNvSpPr/>
          <p:nvPr/>
        </p:nvSpPr>
        <p:spPr>
          <a:xfrm>
            <a:off x="758952" y="5760720"/>
            <a:ext cx="10652760" cy="201168"/>
          </a:xfrm>
          <a:prstGeom prst="rect">
            <a:avLst/>
          </a:prstGeom>
          <a:noFill/>
          <a:ln/>
        </p:spPr>
        <p:txBody>
          <a:bodyPr wrap="square" lIns="0" tIns="0" rIns="0" bIns="0" rtlCol="0" anchor="t"/>
          <a:lstStyle/>
          <a:p>
            <a:pPr algn="ctr" indent="0" marL="0">
              <a:buNone/>
            </a:pPr>
            <a:r>
              <a:rPr lang="en-US" sz="1450" b="1" dirty="0">
                <a:solidFill>
                  <a:srgbClr val="193D4D"/>
                </a:solidFill>
                <a:latin typeface="Lato" pitchFamily="34" charset="0"/>
                <a:ea typeface="Lato" pitchFamily="34" charset="-122"/>
                <a:cs typeface="Lato" pitchFamily="34" charset="-120"/>
              </a:rPr>
              <a:t>Python reference: locally checked   |   SAS baseline: pending   |   Live model trial: pending</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274320"/>
            <a:ext cx="7315200" cy="210312"/>
          </a:xfrm>
          <a:prstGeom prst="rect">
            <a:avLst/>
          </a:prstGeom>
          <a:noFill/>
          <a:ln/>
        </p:spPr>
        <p:txBody>
          <a:bodyPr wrap="square" lIns="0" tIns="0" rIns="0" bIns="0" rtlCol="0" anchor="t"/>
          <a:lstStyle/>
          <a:p>
            <a:pPr indent="0" marL="0">
              <a:buNone/>
            </a:pPr>
            <a:r>
              <a:rPr lang="en-US" sz="1000" b="1" dirty="0">
                <a:solidFill>
                  <a:srgbClr val="193D4D"/>
                </a:solidFill>
                <a:latin typeface="Lato" pitchFamily="34" charset="0"/>
                <a:ea typeface="Lato" pitchFamily="34" charset="-122"/>
                <a:cs typeface="Lato" pitchFamily="34" charset="-120"/>
              </a:rPr>
              <a:t>SAS TO PYTHON  /  LLM COLLABORATION</a:t>
            </a:r>
            <a:endParaRPr lang="en-US" sz="1000" dirty="0"/>
          </a:p>
        </p:txBody>
      </p:sp>
      <p:sp>
        <p:nvSpPr>
          <p:cNvPr id="3" name="Text 1"/>
          <p:cNvSpPr/>
          <p:nvPr/>
        </p:nvSpPr>
        <p:spPr>
          <a:xfrm>
            <a:off x="8229600" y="274320"/>
            <a:ext cx="3337560" cy="210312"/>
          </a:xfrm>
          <a:prstGeom prst="rect">
            <a:avLst/>
          </a:prstGeom>
          <a:noFill/>
          <a:ln/>
        </p:spPr>
        <p:txBody>
          <a:bodyPr wrap="square" lIns="0" tIns="0" rIns="0" bIns="0" rtlCol="0" anchor="t"/>
          <a:lstStyle/>
          <a:p>
            <a:pPr algn="r" indent="0" marL="0">
              <a:buNone/>
            </a:pPr>
            <a:r>
              <a:rPr lang="en-US" sz="1000" b="1" dirty="0">
                <a:solidFill>
                  <a:srgbClr val="187D7C"/>
                </a:solidFill>
                <a:latin typeface="Lato" pitchFamily="34" charset="0"/>
                <a:ea typeface="Lato" pitchFamily="34" charset="-122"/>
                <a:cs typeface="Lato" pitchFamily="34" charset="-120"/>
              </a:rPr>
              <a:t>THE LEARNING AIDS</a:t>
            </a:r>
            <a:endParaRPr lang="en-US" sz="1000" dirty="0"/>
          </a:p>
        </p:txBody>
      </p:sp>
      <p:sp>
        <p:nvSpPr>
          <p:cNvPr id="4" name="Text 2"/>
          <p:cNvSpPr/>
          <p:nvPr/>
        </p:nvSpPr>
        <p:spPr>
          <a:xfrm>
            <a:off x="594360" y="804672"/>
            <a:ext cx="10972800" cy="621792"/>
          </a:xfrm>
          <a:prstGeom prst="rect">
            <a:avLst/>
          </a:prstGeom>
          <a:noFill/>
          <a:ln/>
        </p:spPr>
        <p:txBody>
          <a:bodyPr wrap="square" lIns="0" tIns="0" rIns="0" bIns="0" rtlCol="0" anchor="t"/>
          <a:lstStyle/>
          <a:p>
            <a:pPr indent="0" marL="0">
              <a:buNone/>
            </a:pPr>
            <a:r>
              <a:rPr lang="en-US" sz="3100" b="1" dirty="0">
                <a:solidFill>
                  <a:srgbClr val="193D4D"/>
                </a:solidFill>
                <a:latin typeface="Lato" pitchFamily="34" charset="0"/>
                <a:ea typeface="Lato" pitchFamily="34" charset="-122"/>
                <a:cs typeface="Lato" pitchFamily="34" charset="-120"/>
              </a:rPr>
              <a:t>A compact packet, with an executable companion</a:t>
            </a:r>
            <a:endParaRPr lang="en-US" sz="3100" dirty="0"/>
          </a:p>
        </p:txBody>
      </p:sp>
      <p:sp>
        <p:nvSpPr>
          <p:cNvPr id="5" name="Text 3"/>
          <p:cNvSpPr/>
          <p:nvPr/>
        </p:nvSpPr>
        <p:spPr>
          <a:xfrm>
            <a:off x="594360" y="1426464"/>
            <a:ext cx="10972800" cy="402336"/>
          </a:xfrm>
          <a:prstGeom prst="rect">
            <a:avLst/>
          </a:prstGeom>
          <a:noFill/>
          <a:ln/>
        </p:spPr>
        <p:txBody>
          <a:bodyPr wrap="square" lIns="0" tIns="0" rIns="0" bIns="0" rtlCol="0" anchor="t"/>
          <a:lstStyle/>
          <a:p>
            <a:pPr indent="0" marL="0">
              <a:buNone/>
            </a:pPr>
            <a:r>
              <a:rPr lang="en-US" sz="1600" dirty="0">
                <a:solidFill>
                  <a:srgbClr val="61747C"/>
                </a:solidFill>
                <a:latin typeface="Lato" pitchFamily="34" charset="0"/>
                <a:ea typeface="Lato" pitchFamily="34" charset="-122"/>
                <a:cs typeface="Lato" pitchFamily="34" charset="-120"/>
              </a:rPr>
              <a:t>One set of requirements and examples, presented in formats people can use.</a:t>
            </a:r>
            <a:endParaRPr lang="en-US" sz="1600" dirty="0"/>
          </a:p>
        </p:txBody>
      </p:sp>
      <p:sp>
        <p:nvSpPr>
          <p:cNvPr id="6" name="Shape 4"/>
          <p:cNvSpPr/>
          <p:nvPr/>
        </p:nvSpPr>
        <p:spPr>
          <a:xfrm>
            <a:off x="594360" y="6400800"/>
            <a:ext cx="11000232" cy="0"/>
          </a:xfrm>
          <a:prstGeom prst="line">
            <a:avLst/>
          </a:prstGeom>
          <a:noFill/>
          <a:ln w="8255">
            <a:solidFill>
              <a:srgbClr val="D8E2E0"/>
            </a:solidFill>
            <a:prstDash val="solid"/>
          </a:ln>
        </p:spPr>
      </p:sp>
      <p:sp>
        <p:nvSpPr>
          <p:cNvPr id="7" name="Text 5"/>
          <p:cNvSpPr/>
          <p:nvPr/>
        </p:nvSpPr>
        <p:spPr>
          <a:xfrm>
            <a:off x="594360" y="6528816"/>
            <a:ext cx="8046720" cy="164592"/>
          </a:xfrm>
          <a:prstGeom prst="rect">
            <a:avLst/>
          </a:prstGeom>
          <a:noFill/>
          <a:ln/>
        </p:spPr>
        <p:txBody>
          <a:bodyPr wrap="square" lIns="0" tIns="0" rIns="0" bIns="0" rtlCol="0" anchor="t"/>
          <a:lstStyle/>
          <a:p>
            <a:pPr indent="0" marL="0">
              <a:buNone/>
            </a:pPr>
            <a:r>
              <a:rPr lang="en-US" sz="900" dirty="0">
                <a:solidFill>
                  <a:srgbClr val="61747C"/>
                </a:solidFill>
                <a:latin typeface="Lato" pitchFamily="34" charset="0"/>
                <a:ea typeface="Lato" pitchFamily="34" charset="-122"/>
                <a:cs typeface="Lato" pitchFamily="34" charset="-120"/>
              </a:rPr>
              <a:t>PILOT v0.1  |  TEAM REVIEW  |  25 SEP 2026</a:t>
            </a:r>
            <a:endParaRPr lang="en-US" sz="900" dirty="0"/>
          </a:p>
        </p:txBody>
      </p:sp>
      <p:sp>
        <p:nvSpPr>
          <p:cNvPr id="8" name="Text 6"/>
          <p:cNvSpPr/>
          <p:nvPr/>
        </p:nvSpPr>
        <p:spPr>
          <a:xfrm>
            <a:off x="10789920" y="6510528"/>
            <a:ext cx="777240" cy="192024"/>
          </a:xfrm>
          <a:prstGeom prst="rect">
            <a:avLst/>
          </a:prstGeom>
          <a:noFill/>
          <a:ln/>
        </p:spPr>
        <p:txBody>
          <a:bodyPr wrap="square" lIns="0" tIns="0" rIns="0" bIns="0" rtlCol="0" anchor="t"/>
          <a:lstStyle/>
          <a:p>
            <a:pPr algn="r" indent="0" marL="0">
              <a:buNone/>
            </a:pPr>
            <a:r>
              <a:rPr lang="en-US" sz="1000" dirty="0">
                <a:solidFill>
                  <a:srgbClr val="61747C"/>
                </a:solidFill>
                <a:latin typeface="Lato" pitchFamily="34" charset="0"/>
                <a:ea typeface="Lato" pitchFamily="34" charset="-122"/>
                <a:cs typeface="Lato" pitchFamily="34" charset="-120"/>
              </a:rPr>
              <a:t>06 / 08</a:t>
            </a:r>
            <a:endParaRPr lang="en-US" sz="1000" dirty="0"/>
          </a:p>
        </p:txBody>
      </p:sp>
      <p:sp>
        <p:nvSpPr>
          <p:cNvPr id="9" name="Shape 7"/>
          <p:cNvSpPr/>
          <p:nvPr/>
        </p:nvSpPr>
        <p:spPr>
          <a:xfrm>
            <a:off x="594360" y="2011680"/>
            <a:ext cx="5074920" cy="941832"/>
          </a:xfrm>
          <a:prstGeom prst="rect">
            <a:avLst/>
          </a:prstGeom>
          <a:solidFill>
            <a:srgbClr val="FFFFFF"/>
          </a:solidFill>
          <a:ln w="6350">
            <a:solidFill>
              <a:srgbClr val="FFFFFF"/>
            </a:solidFill>
            <a:prstDash val="solid"/>
          </a:ln>
        </p:spPr>
      </p:sp>
      <p:sp>
        <p:nvSpPr>
          <p:cNvPr id="10" name="Text 8"/>
          <p:cNvSpPr/>
          <p:nvPr/>
        </p:nvSpPr>
        <p:spPr>
          <a:xfrm>
            <a:off x="786384" y="2157984"/>
            <a:ext cx="4645152" cy="201168"/>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4-PAGE FIELD GUIDE</a:t>
            </a:r>
            <a:endParaRPr lang="en-US" sz="1200" dirty="0"/>
          </a:p>
        </p:txBody>
      </p:sp>
      <p:sp>
        <p:nvSpPr>
          <p:cNvPr id="11" name="Text 9"/>
          <p:cNvSpPr/>
          <p:nvPr/>
        </p:nvSpPr>
        <p:spPr>
          <a:xfrm>
            <a:off x="786384" y="2432304"/>
            <a:ext cx="4645152" cy="448056"/>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The workflow, practical requests, checks, and repairs.</a:t>
            </a:r>
            <a:endParaRPr lang="en-US" sz="1600" dirty="0"/>
          </a:p>
        </p:txBody>
      </p:sp>
      <p:sp>
        <p:nvSpPr>
          <p:cNvPr id="12" name="Shape 10"/>
          <p:cNvSpPr/>
          <p:nvPr/>
        </p:nvSpPr>
        <p:spPr>
          <a:xfrm>
            <a:off x="594360" y="3054096"/>
            <a:ext cx="5074920" cy="941832"/>
          </a:xfrm>
          <a:prstGeom prst="rect">
            <a:avLst/>
          </a:prstGeom>
          <a:solidFill>
            <a:srgbClr val="FFFFFF"/>
          </a:solidFill>
          <a:ln w="6350">
            <a:solidFill>
              <a:srgbClr val="FFFFFF"/>
            </a:solidFill>
            <a:prstDash val="solid"/>
          </a:ln>
        </p:spPr>
      </p:sp>
      <p:sp>
        <p:nvSpPr>
          <p:cNvPr id="13" name="Text 11"/>
          <p:cNvSpPr/>
          <p:nvPr/>
        </p:nvSpPr>
        <p:spPr>
          <a:xfrm>
            <a:off x="786384" y="3200400"/>
            <a:ext cx="4645152" cy="201168"/>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2-SIDED DESK REFERENCE</a:t>
            </a:r>
            <a:endParaRPr lang="en-US" sz="1200" dirty="0"/>
          </a:p>
        </p:txBody>
      </p:sp>
      <p:sp>
        <p:nvSpPr>
          <p:cNvPr id="14" name="Text 12"/>
          <p:cNvSpPr/>
          <p:nvPr/>
        </p:nvSpPr>
        <p:spPr>
          <a:xfrm>
            <a:off x="786384" y="3474720"/>
            <a:ext cx="4645152" cy="448056"/>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Prompt headings on the front; evidence and repair on the back.</a:t>
            </a:r>
            <a:endParaRPr lang="en-US" sz="1600" dirty="0"/>
          </a:p>
        </p:txBody>
      </p:sp>
      <p:sp>
        <p:nvSpPr>
          <p:cNvPr id="15" name="Shape 13"/>
          <p:cNvSpPr/>
          <p:nvPr/>
        </p:nvSpPr>
        <p:spPr>
          <a:xfrm>
            <a:off x="594360" y="4096512"/>
            <a:ext cx="5074920" cy="941832"/>
          </a:xfrm>
          <a:prstGeom prst="rect">
            <a:avLst/>
          </a:prstGeom>
          <a:solidFill>
            <a:srgbClr val="FFFFFF"/>
          </a:solidFill>
          <a:ln w="6350">
            <a:solidFill>
              <a:srgbClr val="FFFFFF"/>
            </a:solidFill>
            <a:prstDash val="solid"/>
          </a:ln>
        </p:spPr>
      </p:sp>
      <p:sp>
        <p:nvSpPr>
          <p:cNvPr id="16" name="Text 14"/>
          <p:cNvSpPr/>
          <p:nvPr/>
        </p:nvSpPr>
        <p:spPr>
          <a:xfrm>
            <a:off x="786384" y="4242816"/>
            <a:ext cx="4645152" cy="201168"/>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EXISTING WORKED MODULES</a:t>
            </a:r>
            <a:endParaRPr lang="en-US" sz="1200" dirty="0"/>
          </a:p>
        </p:txBody>
      </p:sp>
      <p:sp>
        <p:nvSpPr>
          <p:cNvPr id="17" name="Text 15"/>
          <p:cNvSpPr/>
          <p:nvPr/>
        </p:nvSpPr>
        <p:spPr>
          <a:xfrm>
            <a:off x="786384" y="4517136"/>
            <a:ext cx="4645152" cy="448056"/>
          </a:xfrm>
          <a:prstGeom prst="rect">
            <a:avLst/>
          </a:prstGeom>
          <a:noFill/>
          <a:ln/>
        </p:spPr>
        <p:txBody>
          <a:bodyPr wrap="square" lIns="0" tIns="0" rIns="0" bIns="0" rtlCol="0" anchor="t"/>
          <a:lstStyle/>
          <a:p>
            <a:pPr indent="0" marL="0">
              <a:buNone/>
            </a:pPr>
            <a:r>
              <a:rPr lang="en-US" sz="1600" dirty="0">
                <a:solidFill>
                  <a:srgbClr val="243B45"/>
                </a:solidFill>
                <a:latin typeface="Lato" pitchFamily="34" charset="0"/>
                <a:ea typeface="Lato" pitchFamily="34" charset="-122"/>
                <a:cs typeface="Lato" pitchFamily="34" charset="-120"/>
              </a:rPr>
              <a:t>Use selected examples and appendices as needed.</a:t>
            </a:r>
            <a:endParaRPr lang="en-US" sz="1600" dirty="0"/>
          </a:p>
        </p:txBody>
      </p:sp>
      <p:sp>
        <p:nvSpPr>
          <p:cNvPr id="18" name="Shape 16"/>
          <p:cNvSpPr/>
          <p:nvPr/>
        </p:nvSpPr>
        <p:spPr>
          <a:xfrm>
            <a:off x="5925312" y="2011680"/>
            <a:ext cx="5669280" cy="3438144"/>
          </a:xfrm>
          <a:prstGeom prst="rect">
            <a:avLst/>
          </a:prstGeom>
          <a:solidFill>
            <a:srgbClr val="EAF4F1"/>
          </a:solidFill>
          <a:ln w="6350">
            <a:solidFill>
              <a:srgbClr val="EAF4F1"/>
            </a:solidFill>
            <a:prstDash val="solid"/>
          </a:ln>
        </p:spPr>
      </p:sp>
      <p:sp>
        <p:nvSpPr>
          <p:cNvPr id="19" name="Text 17"/>
          <p:cNvSpPr/>
          <p:nvPr/>
        </p:nvSpPr>
        <p:spPr>
          <a:xfrm>
            <a:off x="6153912" y="2194560"/>
            <a:ext cx="5212080" cy="219456"/>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MEAN NOTEBOOK PROTOTYPE</a:t>
            </a:r>
            <a:endParaRPr lang="en-US" sz="1200" dirty="0"/>
          </a:p>
        </p:txBody>
      </p:sp>
      <p:sp>
        <p:nvSpPr>
          <p:cNvPr id="20" name="Shape 18"/>
          <p:cNvSpPr/>
          <p:nvPr/>
        </p:nvSpPr>
        <p:spPr>
          <a:xfrm>
            <a:off x="6153912" y="2679192"/>
            <a:ext cx="5212080" cy="365760"/>
          </a:xfrm>
          <a:prstGeom prst="rect">
            <a:avLst/>
          </a:prstGeom>
          <a:solidFill>
            <a:srgbClr val="FFFFFF"/>
          </a:solidFill>
          <a:ln w="6350">
            <a:solidFill>
              <a:srgbClr val="FFFFFF"/>
            </a:solidFill>
            <a:prstDash val="solid"/>
          </a:ln>
        </p:spPr>
      </p:sp>
      <p:sp>
        <p:nvSpPr>
          <p:cNvPr id="21" name="Text 19"/>
          <p:cNvSpPr/>
          <p:nvPr/>
        </p:nvSpPr>
        <p:spPr>
          <a:xfrm>
            <a:off x="6309360" y="2761488"/>
            <a:ext cx="393192" cy="201168"/>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01</a:t>
            </a:r>
            <a:endParaRPr lang="en-US" sz="1200" dirty="0"/>
          </a:p>
        </p:txBody>
      </p:sp>
      <p:sp>
        <p:nvSpPr>
          <p:cNvPr id="22" name="Text 20"/>
          <p:cNvSpPr/>
          <p:nvPr/>
        </p:nvSpPr>
        <p:spPr>
          <a:xfrm>
            <a:off x="6848856" y="2752344"/>
            <a:ext cx="4315968" cy="210312"/>
          </a:xfrm>
          <a:prstGeom prst="rect">
            <a:avLst/>
          </a:prstGeom>
          <a:noFill/>
          <a:ln/>
        </p:spPr>
        <p:txBody>
          <a:bodyPr wrap="square" lIns="0" tIns="0" rIns="0" bIns="0" rtlCol="0" anchor="t"/>
          <a:lstStyle/>
          <a:p>
            <a:pPr indent="0" marL="0">
              <a:buNone/>
            </a:pPr>
            <a:r>
              <a:rPr lang="en-US" sz="1500" dirty="0">
                <a:solidFill>
                  <a:srgbClr val="243B45"/>
                </a:solidFill>
                <a:latin typeface="Lato" pitchFamily="34" charset="0"/>
                <a:ea typeface="Lato" pitchFamily="34" charset="-122"/>
                <a:cs typeface="Lato" pitchFamily="34" charset="-120"/>
              </a:rPr>
              <a:t>SAS source and required behavior</a:t>
            </a:r>
            <a:endParaRPr lang="en-US" sz="1500" dirty="0"/>
          </a:p>
        </p:txBody>
      </p:sp>
      <p:sp>
        <p:nvSpPr>
          <p:cNvPr id="23" name="Shape 21"/>
          <p:cNvSpPr/>
          <p:nvPr/>
        </p:nvSpPr>
        <p:spPr>
          <a:xfrm>
            <a:off x="6153912" y="3136392"/>
            <a:ext cx="5212080" cy="365760"/>
          </a:xfrm>
          <a:prstGeom prst="rect">
            <a:avLst/>
          </a:prstGeom>
          <a:solidFill>
            <a:srgbClr val="FFFFFF"/>
          </a:solidFill>
          <a:ln w="6350">
            <a:solidFill>
              <a:srgbClr val="FFFFFF"/>
            </a:solidFill>
            <a:prstDash val="solid"/>
          </a:ln>
        </p:spPr>
      </p:sp>
      <p:sp>
        <p:nvSpPr>
          <p:cNvPr id="24" name="Text 22"/>
          <p:cNvSpPr/>
          <p:nvPr/>
        </p:nvSpPr>
        <p:spPr>
          <a:xfrm>
            <a:off x="6309360" y="3218688"/>
            <a:ext cx="393192" cy="201168"/>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02</a:t>
            </a:r>
            <a:endParaRPr lang="en-US" sz="1200" dirty="0"/>
          </a:p>
        </p:txBody>
      </p:sp>
      <p:sp>
        <p:nvSpPr>
          <p:cNvPr id="25" name="Text 23"/>
          <p:cNvSpPr/>
          <p:nvPr/>
        </p:nvSpPr>
        <p:spPr>
          <a:xfrm>
            <a:off x="6848856" y="3209544"/>
            <a:ext cx="4315968" cy="210312"/>
          </a:xfrm>
          <a:prstGeom prst="rect">
            <a:avLst/>
          </a:prstGeom>
          <a:noFill/>
          <a:ln/>
        </p:spPr>
        <p:txBody>
          <a:bodyPr wrap="square" lIns="0" tIns="0" rIns="0" bIns="0" rtlCol="0" anchor="t"/>
          <a:lstStyle/>
          <a:p>
            <a:pPr indent="0" marL="0">
              <a:buNone/>
            </a:pPr>
            <a:r>
              <a:rPr lang="en-US" sz="1500" dirty="0">
                <a:solidFill>
                  <a:srgbClr val="243B45"/>
                </a:solidFill>
                <a:latin typeface="Lato" pitchFamily="34" charset="0"/>
                <a:ea typeface="Lato" pitchFamily="34" charset="-122"/>
                <a:cs typeface="Lato" pitchFamily="34" charset="-120"/>
              </a:rPr>
              <a:t>Prompt and saved-response record</a:t>
            </a:r>
            <a:endParaRPr lang="en-US" sz="1500" dirty="0"/>
          </a:p>
        </p:txBody>
      </p:sp>
      <p:sp>
        <p:nvSpPr>
          <p:cNvPr id="26" name="Shape 24"/>
          <p:cNvSpPr/>
          <p:nvPr/>
        </p:nvSpPr>
        <p:spPr>
          <a:xfrm>
            <a:off x="6153912" y="3593592"/>
            <a:ext cx="5212080" cy="365760"/>
          </a:xfrm>
          <a:prstGeom prst="rect">
            <a:avLst/>
          </a:prstGeom>
          <a:solidFill>
            <a:srgbClr val="FFFFFF"/>
          </a:solidFill>
          <a:ln w="6350">
            <a:solidFill>
              <a:srgbClr val="FFFFFF"/>
            </a:solidFill>
            <a:prstDash val="solid"/>
          </a:ln>
        </p:spPr>
      </p:sp>
      <p:sp>
        <p:nvSpPr>
          <p:cNvPr id="27" name="Text 25"/>
          <p:cNvSpPr/>
          <p:nvPr/>
        </p:nvSpPr>
        <p:spPr>
          <a:xfrm>
            <a:off x="6309360" y="3675888"/>
            <a:ext cx="393192" cy="201168"/>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03</a:t>
            </a:r>
            <a:endParaRPr lang="en-US" sz="1200" dirty="0"/>
          </a:p>
        </p:txBody>
      </p:sp>
      <p:sp>
        <p:nvSpPr>
          <p:cNvPr id="28" name="Text 26"/>
          <p:cNvSpPr/>
          <p:nvPr/>
        </p:nvSpPr>
        <p:spPr>
          <a:xfrm>
            <a:off x="6848856" y="3666744"/>
            <a:ext cx="4315968" cy="210312"/>
          </a:xfrm>
          <a:prstGeom prst="rect">
            <a:avLst/>
          </a:prstGeom>
          <a:noFill/>
          <a:ln/>
        </p:spPr>
        <p:txBody>
          <a:bodyPr wrap="square" lIns="0" tIns="0" rIns="0" bIns="0" rtlCol="0" anchor="t"/>
          <a:lstStyle/>
          <a:p>
            <a:pPr indent="0" marL="0">
              <a:buNone/>
            </a:pPr>
            <a:r>
              <a:rPr lang="en-US" sz="1500" dirty="0">
                <a:solidFill>
                  <a:srgbClr val="243B45"/>
                </a:solidFill>
                <a:latin typeface="Lato" pitchFamily="34" charset="0"/>
                <a:ea typeface="Lato" pitchFamily="34" charset="-122"/>
                <a:cs typeface="Lato" pitchFamily="34" charset="-120"/>
              </a:rPr>
              <a:t>Reviewed Python candidate</a:t>
            </a:r>
            <a:endParaRPr lang="en-US" sz="1500" dirty="0"/>
          </a:p>
        </p:txBody>
      </p:sp>
      <p:sp>
        <p:nvSpPr>
          <p:cNvPr id="29" name="Shape 27"/>
          <p:cNvSpPr/>
          <p:nvPr/>
        </p:nvSpPr>
        <p:spPr>
          <a:xfrm>
            <a:off x="6153912" y="4050792"/>
            <a:ext cx="5212080" cy="365760"/>
          </a:xfrm>
          <a:prstGeom prst="rect">
            <a:avLst/>
          </a:prstGeom>
          <a:solidFill>
            <a:srgbClr val="FFFFFF"/>
          </a:solidFill>
          <a:ln w="6350">
            <a:solidFill>
              <a:srgbClr val="FFFFFF"/>
            </a:solidFill>
            <a:prstDash val="solid"/>
          </a:ln>
        </p:spPr>
      </p:sp>
      <p:sp>
        <p:nvSpPr>
          <p:cNvPr id="30" name="Text 28"/>
          <p:cNvSpPr/>
          <p:nvPr/>
        </p:nvSpPr>
        <p:spPr>
          <a:xfrm>
            <a:off x="6309360" y="4133088"/>
            <a:ext cx="393192" cy="201168"/>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04</a:t>
            </a:r>
            <a:endParaRPr lang="en-US" sz="1200" dirty="0"/>
          </a:p>
        </p:txBody>
      </p:sp>
      <p:sp>
        <p:nvSpPr>
          <p:cNvPr id="31" name="Text 29"/>
          <p:cNvSpPr/>
          <p:nvPr/>
        </p:nvSpPr>
        <p:spPr>
          <a:xfrm>
            <a:off x="6848856" y="4123944"/>
            <a:ext cx="4315968" cy="210312"/>
          </a:xfrm>
          <a:prstGeom prst="rect">
            <a:avLst/>
          </a:prstGeom>
          <a:noFill/>
          <a:ln/>
        </p:spPr>
        <p:txBody>
          <a:bodyPr wrap="square" lIns="0" tIns="0" rIns="0" bIns="0" rtlCol="0" anchor="t"/>
          <a:lstStyle/>
          <a:p>
            <a:pPr indent="0" marL="0">
              <a:buNone/>
            </a:pPr>
            <a:r>
              <a:rPr lang="en-US" sz="1500" dirty="0">
                <a:solidFill>
                  <a:srgbClr val="243B45"/>
                </a:solidFill>
                <a:latin typeface="Lato" pitchFamily="34" charset="0"/>
                <a:ea typeface="Lato" pitchFamily="34" charset="-122"/>
                <a:cs typeface="Lato" pitchFamily="34" charset="-120"/>
              </a:rPr>
              <a:t>Executed checks and observed results</a:t>
            </a:r>
            <a:endParaRPr lang="en-US" sz="1500" dirty="0"/>
          </a:p>
        </p:txBody>
      </p:sp>
      <p:sp>
        <p:nvSpPr>
          <p:cNvPr id="32" name="Shape 30"/>
          <p:cNvSpPr/>
          <p:nvPr/>
        </p:nvSpPr>
        <p:spPr>
          <a:xfrm>
            <a:off x="6153912" y="4507992"/>
            <a:ext cx="5212080" cy="365760"/>
          </a:xfrm>
          <a:prstGeom prst="rect">
            <a:avLst/>
          </a:prstGeom>
          <a:solidFill>
            <a:srgbClr val="FFFFFF"/>
          </a:solidFill>
          <a:ln w="6350">
            <a:solidFill>
              <a:srgbClr val="FFFFFF"/>
            </a:solidFill>
            <a:prstDash val="solid"/>
          </a:ln>
        </p:spPr>
      </p:sp>
      <p:sp>
        <p:nvSpPr>
          <p:cNvPr id="33" name="Text 31"/>
          <p:cNvSpPr/>
          <p:nvPr/>
        </p:nvSpPr>
        <p:spPr>
          <a:xfrm>
            <a:off x="6309360" y="4590288"/>
            <a:ext cx="393192" cy="201168"/>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05</a:t>
            </a:r>
            <a:endParaRPr lang="en-US" sz="1200" dirty="0"/>
          </a:p>
        </p:txBody>
      </p:sp>
      <p:sp>
        <p:nvSpPr>
          <p:cNvPr id="34" name="Text 32"/>
          <p:cNvSpPr/>
          <p:nvPr/>
        </p:nvSpPr>
        <p:spPr>
          <a:xfrm>
            <a:off x="6848856" y="4581144"/>
            <a:ext cx="4315968" cy="210312"/>
          </a:xfrm>
          <a:prstGeom prst="rect">
            <a:avLst/>
          </a:prstGeom>
          <a:noFill/>
          <a:ln/>
        </p:spPr>
        <p:txBody>
          <a:bodyPr wrap="square" lIns="0" tIns="0" rIns="0" bIns="0" rtlCol="0" anchor="t"/>
          <a:lstStyle/>
          <a:p>
            <a:pPr indent="0" marL="0">
              <a:buNone/>
            </a:pPr>
            <a:r>
              <a:rPr lang="en-US" sz="1500" dirty="0">
                <a:solidFill>
                  <a:srgbClr val="243B45"/>
                </a:solidFill>
                <a:latin typeface="Lato" pitchFamily="34" charset="0"/>
                <a:ea typeface="Lato" pitchFamily="34" charset="-122"/>
                <a:cs typeface="Lato" pitchFamily="34" charset="-120"/>
              </a:rPr>
              <a:t>Evidence, limits, and acceptance decision</a:t>
            </a:r>
            <a:endParaRPr lang="en-US" sz="1500" dirty="0"/>
          </a:p>
        </p:txBody>
      </p:sp>
      <p:sp>
        <p:nvSpPr>
          <p:cNvPr id="35" name="Text 33"/>
          <p:cNvSpPr/>
          <p:nvPr/>
        </p:nvSpPr>
        <p:spPr>
          <a:xfrm>
            <a:off x="594360" y="5660136"/>
            <a:ext cx="10972800" cy="457200"/>
          </a:xfrm>
          <a:prstGeom prst="rect">
            <a:avLst/>
          </a:prstGeom>
          <a:noFill/>
          <a:ln/>
        </p:spPr>
        <p:txBody>
          <a:bodyPr wrap="square" lIns="0" tIns="0" rIns="0" bIns="0" rtlCol="0" anchor="t"/>
          <a:lstStyle/>
          <a:p>
            <a:pPr indent="0" marL="0">
              <a:buNone/>
            </a:pPr>
            <a:r>
              <a:rPr lang="en-US" sz="1800" b="1" dirty="0">
                <a:solidFill>
                  <a:srgbClr val="193D4D"/>
                </a:solidFill>
                <a:latin typeface="Lato" pitchFamily="34" charset="0"/>
                <a:ea typeface="Lato" pitchFamily="34" charset="-122"/>
                <a:cs typeface="Lato" pitchFamily="34" charset="-120"/>
              </a:rPr>
              <a:t>Static HTML preview included. No model API connection is required for the supplied demonstration.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274320"/>
            <a:ext cx="7315200" cy="210312"/>
          </a:xfrm>
          <a:prstGeom prst="rect">
            <a:avLst/>
          </a:prstGeom>
          <a:noFill/>
          <a:ln/>
        </p:spPr>
        <p:txBody>
          <a:bodyPr wrap="square" lIns="0" tIns="0" rIns="0" bIns="0" rtlCol="0" anchor="t"/>
          <a:lstStyle/>
          <a:p>
            <a:pPr indent="0" marL="0">
              <a:buNone/>
            </a:pPr>
            <a:r>
              <a:rPr lang="en-US" sz="1000" b="1" dirty="0">
                <a:solidFill>
                  <a:srgbClr val="193D4D"/>
                </a:solidFill>
                <a:latin typeface="Lato" pitchFamily="34" charset="0"/>
                <a:ea typeface="Lato" pitchFamily="34" charset="-122"/>
                <a:cs typeface="Lato" pitchFamily="34" charset="-120"/>
              </a:rPr>
              <a:t>SAS TO PYTHON  /  LLM COLLABORATION</a:t>
            </a:r>
            <a:endParaRPr lang="en-US" sz="1000" dirty="0"/>
          </a:p>
        </p:txBody>
      </p:sp>
      <p:sp>
        <p:nvSpPr>
          <p:cNvPr id="3" name="Text 1"/>
          <p:cNvSpPr/>
          <p:nvPr/>
        </p:nvSpPr>
        <p:spPr>
          <a:xfrm>
            <a:off x="8229600" y="274320"/>
            <a:ext cx="3337560" cy="210312"/>
          </a:xfrm>
          <a:prstGeom prst="rect">
            <a:avLst/>
          </a:prstGeom>
          <a:noFill/>
          <a:ln/>
        </p:spPr>
        <p:txBody>
          <a:bodyPr wrap="square" lIns="0" tIns="0" rIns="0" bIns="0" rtlCol="0" anchor="t"/>
          <a:lstStyle/>
          <a:p>
            <a:pPr algn="r" indent="0" marL="0">
              <a:buNone/>
            </a:pPr>
            <a:r>
              <a:rPr lang="en-US" sz="1000" b="1" dirty="0">
                <a:solidFill>
                  <a:srgbClr val="187D7C"/>
                </a:solidFill>
                <a:latin typeface="Lato" pitchFamily="34" charset="0"/>
                <a:ea typeface="Lato" pitchFamily="34" charset="-122"/>
                <a:cs typeface="Lato" pitchFamily="34" charset="-120"/>
              </a:rPr>
              <a:t>SCOPE AND PREREQUISITES</a:t>
            </a:r>
            <a:endParaRPr lang="en-US" sz="1000" dirty="0"/>
          </a:p>
        </p:txBody>
      </p:sp>
      <p:sp>
        <p:nvSpPr>
          <p:cNvPr id="4" name="Text 2"/>
          <p:cNvSpPr/>
          <p:nvPr/>
        </p:nvSpPr>
        <p:spPr>
          <a:xfrm>
            <a:off x="594360" y="804672"/>
            <a:ext cx="10972800" cy="621792"/>
          </a:xfrm>
          <a:prstGeom prst="rect">
            <a:avLst/>
          </a:prstGeom>
          <a:noFill/>
          <a:ln/>
        </p:spPr>
        <p:txBody>
          <a:bodyPr wrap="square" lIns="0" tIns="0" rIns="0" bIns="0" rtlCol="0" anchor="t"/>
          <a:lstStyle/>
          <a:p>
            <a:pPr indent="0" marL="0">
              <a:buNone/>
            </a:pPr>
            <a:r>
              <a:rPr lang="en-US" sz="3100" b="1" dirty="0">
                <a:solidFill>
                  <a:srgbClr val="193D4D"/>
                </a:solidFill>
                <a:latin typeface="Lato" pitchFamily="34" charset="0"/>
                <a:ea typeface="Lato" pitchFamily="34" charset="-122"/>
                <a:cs typeface="Lato" pitchFamily="34" charset="-120"/>
              </a:rPr>
              <a:t>Keep the pilot small enough to teach</a:t>
            </a:r>
            <a:endParaRPr lang="en-US" sz="3100" dirty="0"/>
          </a:p>
        </p:txBody>
      </p:sp>
      <p:sp>
        <p:nvSpPr>
          <p:cNvPr id="5" name="Text 3"/>
          <p:cNvSpPr/>
          <p:nvPr/>
        </p:nvSpPr>
        <p:spPr>
          <a:xfrm>
            <a:off x="594360" y="1426464"/>
            <a:ext cx="10972800" cy="402336"/>
          </a:xfrm>
          <a:prstGeom prst="rect">
            <a:avLst/>
          </a:prstGeom>
          <a:noFill/>
          <a:ln/>
        </p:spPr>
        <p:txBody>
          <a:bodyPr wrap="square" lIns="0" tIns="0" rIns="0" bIns="0" rtlCol="0" anchor="t"/>
          <a:lstStyle/>
          <a:p>
            <a:pPr indent="0" marL="0">
              <a:buNone/>
            </a:pPr>
            <a:r>
              <a:rPr lang="en-US" sz="1600" dirty="0">
                <a:solidFill>
                  <a:srgbClr val="61747C"/>
                </a:solidFill>
                <a:latin typeface="Lato" pitchFamily="34" charset="0"/>
                <a:ea typeface="Lato" pitchFamily="34" charset="-122"/>
                <a:cs typeface="Lato" pitchFamily="34" charset="-120"/>
              </a:rPr>
              <a:t>Add languages and infrastructure only when they serve a defined learning objective.</a:t>
            </a:r>
            <a:endParaRPr lang="en-US" sz="1600" dirty="0"/>
          </a:p>
        </p:txBody>
      </p:sp>
      <p:sp>
        <p:nvSpPr>
          <p:cNvPr id="6" name="Shape 4"/>
          <p:cNvSpPr/>
          <p:nvPr/>
        </p:nvSpPr>
        <p:spPr>
          <a:xfrm>
            <a:off x="594360" y="6400800"/>
            <a:ext cx="11000232" cy="0"/>
          </a:xfrm>
          <a:prstGeom prst="line">
            <a:avLst/>
          </a:prstGeom>
          <a:noFill/>
          <a:ln w="8255">
            <a:solidFill>
              <a:srgbClr val="D8E2E0"/>
            </a:solidFill>
            <a:prstDash val="solid"/>
          </a:ln>
        </p:spPr>
      </p:sp>
      <p:sp>
        <p:nvSpPr>
          <p:cNvPr id="7" name="Text 5"/>
          <p:cNvSpPr/>
          <p:nvPr/>
        </p:nvSpPr>
        <p:spPr>
          <a:xfrm>
            <a:off x="594360" y="6528816"/>
            <a:ext cx="8046720" cy="164592"/>
          </a:xfrm>
          <a:prstGeom prst="rect">
            <a:avLst/>
          </a:prstGeom>
          <a:noFill/>
          <a:ln/>
        </p:spPr>
        <p:txBody>
          <a:bodyPr wrap="square" lIns="0" tIns="0" rIns="0" bIns="0" rtlCol="0" anchor="t"/>
          <a:lstStyle/>
          <a:p>
            <a:pPr indent="0" marL="0">
              <a:buNone/>
            </a:pPr>
            <a:r>
              <a:rPr lang="en-US" sz="900" dirty="0">
                <a:solidFill>
                  <a:srgbClr val="61747C"/>
                </a:solidFill>
                <a:latin typeface="Lato" pitchFamily="34" charset="0"/>
                <a:ea typeface="Lato" pitchFamily="34" charset="-122"/>
                <a:cs typeface="Lato" pitchFamily="34" charset="-120"/>
              </a:rPr>
              <a:t>PILOT v0.1  |  TEAM REVIEW  |  25 SEP 2026</a:t>
            </a:r>
            <a:endParaRPr lang="en-US" sz="900" dirty="0"/>
          </a:p>
        </p:txBody>
      </p:sp>
      <p:sp>
        <p:nvSpPr>
          <p:cNvPr id="8" name="Text 6"/>
          <p:cNvSpPr/>
          <p:nvPr/>
        </p:nvSpPr>
        <p:spPr>
          <a:xfrm>
            <a:off x="10789920" y="6510528"/>
            <a:ext cx="777240" cy="192024"/>
          </a:xfrm>
          <a:prstGeom prst="rect">
            <a:avLst/>
          </a:prstGeom>
          <a:noFill/>
          <a:ln/>
        </p:spPr>
        <p:txBody>
          <a:bodyPr wrap="square" lIns="0" tIns="0" rIns="0" bIns="0" rtlCol="0" anchor="t"/>
          <a:lstStyle/>
          <a:p>
            <a:pPr algn="r" indent="0" marL="0">
              <a:buNone/>
            </a:pPr>
            <a:r>
              <a:rPr lang="en-US" sz="1000" dirty="0">
                <a:solidFill>
                  <a:srgbClr val="61747C"/>
                </a:solidFill>
                <a:latin typeface="Lato" pitchFamily="34" charset="0"/>
                <a:ea typeface="Lato" pitchFamily="34" charset="-122"/>
                <a:cs typeface="Lato" pitchFamily="34" charset="-120"/>
              </a:rPr>
              <a:t>07 / 08</a:t>
            </a:r>
            <a:endParaRPr lang="en-US" sz="1000" dirty="0"/>
          </a:p>
        </p:txBody>
      </p:sp>
      <p:sp>
        <p:nvSpPr>
          <p:cNvPr id="9" name="Shape 7"/>
          <p:cNvSpPr/>
          <p:nvPr/>
        </p:nvSpPr>
        <p:spPr>
          <a:xfrm>
            <a:off x="594360" y="2020824"/>
            <a:ext cx="3483864" cy="3218688"/>
          </a:xfrm>
          <a:prstGeom prst="rect">
            <a:avLst/>
          </a:prstGeom>
          <a:solidFill>
            <a:srgbClr val="EAF4F1"/>
          </a:solidFill>
          <a:ln w="6350">
            <a:solidFill>
              <a:srgbClr val="EAF4F1"/>
            </a:solidFill>
            <a:prstDash val="solid"/>
          </a:ln>
        </p:spPr>
      </p:sp>
      <p:sp>
        <p:nvSpPr>
          <p:cNvPr id="10" name="Text 8"/>
          <p:cNvSpPr/>
          <p:nvPr/>
        </p:nvSpPr>
        <p:spPr>
          <a:xfrm>
            <a:off x="786384" y="2231136"/>
            <a:ext cx="3099816" cy="228600"/>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CORE FOR REVIEW</a:t>
            </a:r>
            <a:endParaRPr lang="en-US" sz="1200" dirty="0"/>
          </a:p>
        </p:txBody>
      </p:sp>
      <p:sp>
        <p:nvSpPr>
          <p:cNvPr id="11" name="Text 9"/>
          <p:cNvSpPr/>
          <p:nvPr/>
        </p:nvSpPr>
        <p:spPr>
          <a:xfrm>
            <a:off x="786384" y="2761488"/>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Python as the first target.</a:t>
            </a:r>
            <a:endParaRPr lang="en-US" sz="1700" dirty="0"/>
          </a:p>
        </p:txBody>
      </p:sp>
      <p:sp>
        <p:nvSpPr>
          <p:cNvPr id="12" name="Text 10"/>
          <p:cNvSpPr/>
          <p:nvPr/>
        </p:nvSpPr>
        <p:spPr>
          <a:xfrm>
            <a:off x="786384" y="3291840"/>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Model-neutral collaboration.</a:t>
            </a:r>
            <a:endParaRPr lang="en-US" sz="1700" dirty="0"/>
          </a:p>
        </p:txBody>
      </p:sp>
      <p:sp>
        <p:nvSpPr>
          <p:cNvPr id="13" name="Text 11"/>
          <p:cNvSpPr/>
          <p:nvPr/>
        </p:nvSpPr>
        <p:spPr>
          <a:xfrm>
            <a:off x="786384" y="3822192"/>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Synthetic, bounded examples.</a:t>
            </a:r>
            <a:endParaRPr lang="en-US" sz="1700" dirty="0"/>
          </a:p>
        </p:txBody>
      </p:sp>
      <p:sp>
        <p:nvSpPr>
          <p:cNvPr id="14" name="Text 12"/>
          <p:cNvSpPr/>
          <p:nvPr/>
        </p:nvSpPr>
        <p:spPr>
          <a:xfrm>
            <a:off x="786384" y="4352544"/>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Evidence-led acceptance.</a:t>
            </a:r>
            <a:endParaRPr lang="en-US" sz="1700" dirty="0"/>
          </a:p>
        </p:txBody>
      </p:sp>
      <p:sp>
        <p:nvSpPr>
          <p:cNvPr id="15" name="Shape 13"/>
          <p:cNvSpPr/>
          <p:nvPr/>
        </p:nvSpPr>
        <p:spPr>
          <a:xfrm>
            <a:off x="4352544" y="2020824"/>
            <a:ext cx="3483864" cy="3218688"/>
          </a:xfrm>
          <a:prstGeom prst="rect">
            <a:avLst/>
          </a:prstGeom>
          <a:solidFill>
            <a:srgbClr val="FFFFFF"/>
          </a:solidFill>
          <a:ln w="6350">
            <a:solidFill>
              <a:srgbClr val="FFFFFF"/>
            </a:solidFill>
            <a:prstDash val="solid"/>
          </a:ln>
        </p:spPr>
      </p:sp>
      <p:sp>
        <p:nvSpPr>
          <p:cNvPr id="16" name="Text 14"/>
          <p:cNvSpPr/>
          <p:nvPr/>
        </p:nvSpPr>
        <p:spPr>
          <a:xfrm>
            <a:off x="4544568" y="2231136"/>
            <a:ext cx="3099816" cy="228600"/>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OPTIONAL DELIVERY</a:t>
            </a:r>
            <a:endParaRPr lang="en-US" sz="1200" dirty="0"/>
          </a:p>
        </p:txBody>
      </p:sp>
      <p:sp>
        <p:nvSpPr>
          <p:cNvPr id="17" name="Text 15"/>
          <p:cNvSpPr/>
          <p:nvPr/>
        </p:nvSpPr>
        <p:spPr>
          <a:xfrm>
            <a:off x="4544568" y="2761488"/>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Jupyter as a companion.</a:t>
            </a:r>
            <a:endParaRPr lang="en-US" sz="1700" dirty="0"/>
          </a:p>
        </p:txBody>
      </p:sp>
      <p:sp>
        <p:nvSpPr>
          <p:cNvPr id="18" name="Text 16"/>
          <p:cNvSpPr/>
          <p:nvPr/>
        </p:nvSpPr>
        <p:spPr>
          <a:xfrm>
            <a:off x="4544568" y="3291840"/>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Portal plus reviewed execution.</a:t>
            </a:r>
            <a:endParaRPr lang="en-US" sz="1700" dirty="0"/>
          </a:p>
        </p:txBody>
      </p:sp>
      <p:sp>
        <p:nvSpPr>
          <p:cNvPr id="19" name="Text 17"/>
          <p:cNvSpPr/>
          <p:nvPr/>
        </p:nvSpPr>
        <p:spPr>
          <a:xfrm>
            <a:off x="4544568" y="3822192"/>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VS Code and SSH access.</a:t>
            </a:r>
            <a:endParaRPr lang="en-US" sz="1700" dirty="0"/>
          </a:p>
        </p:txBody>
      </p:sp>
      <p:sp>
        <p:nvSpPr>
          <p:cNvPr id="20" name="Text 18"/>
          <p:cNvSpPr/>
          <p:nvPr/>
        </p:nvSpPr>
        <p:spPr>
          <a:xfrm>
            <a:off x="4544568" y="4352544"/>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Setup handled before class.</a:t>
            </a:r>
            <a:endParaRPr lang="en-US" sz="1700" dirty="0"/>
          </a:p>
        </p:txBody>
      </p:sp>
      <p:sp>
        <p:nvSpPr>
          <p:cNvPr id="21" name="Shape 19"/>
          <p:cNvSpPr/>
          <p:nvPr/>
        </p:nvSpPr>
        <p:spPr>
          <a:xfrm>
            <a:off x="8110728" y="2020824"/>
            <a:ext cx="3483864" cy="3218688"/>
          </a:xfrm>
          <a:prstGeom prst="rect">
            <a:avLst/>
          </a:prstGeom>
          <a:solidFill>
            <a:srgbClr val="FFFFFF"/>
          </a:solidFill>
          <a:ln w="6350">
            <a:solidFill>
              <a:srgbClr val="FFFFFF"/>
            </a:solidFill>
            <a:prstDash val="solid"/>
          </a:ln>
        </p:spPr>
      </p:sp>
      <p:sp>
        <p:nvSpPr>
          <p:cNvPr id="22" name="Text 20"/>
          <p:cNvSpPr/>
          <p:nvPr/>
        </p:nvSpPr>
        <p:spPr>
          <a:xfrm>
            <a:off x="8302752" y="2231136"/>
            <a:ext cx="3099816" cy="228600"/>
          </a:xfrm>
          <a:prstGeom prst="rect">
            <a:avLst/>
          </a:prstGeom>
          <a:noFill/>
          <a:ln/>
        </p:spPr>
        <p:txBody>
          <a:bodyPr wrap="square" lIns="0" tIns="0" rIns="0" bIns="0" rtlCol="0" anchor="t"/>
          <a:lstStyle/>
          <a:p>
            <a:pPr indent="0" marL="0">
              <a:buNone/>
            </a:pPr>
            <a:r>
              <a:rPr lang="en-US" sz="1200" b="1" dirty="0">
                <a:solidFill>
                  <a:srgbClr val="187D7C"/>
                </a:solidFill>
                <a:latin typeface="Lato" pitchFamily="34" charset="0"/>
                <a:ea typeface="Lato" pitchFamily="34" charset="-122"/>
                <a:cs typeface="Lato" pitchFamily="34" charset="-120"/>
              </a:rPr>
              <a:t>LATER EXTENSIONS</a:t>
            </a:r>
            <a:endParaRPr lang="en-US" sz="1200" dirty="0"/>
          </a:p>
        </p:txBody>
      </p:sp>
      <p:sp>
        <p:nvSpPr>
          <p:cNvPr id="23" name="Text 21"/>
          <p:cNvSpPr/>
          <p:nvPr/>
        </p:nvSpPr>
        <p:spPr>
          <a:xfrm>
            <a:off x="8302752" y="2761488"/>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DuckDB for analytical SQL.</a:t>
            </a:r>
            <a:endParaRPr lang="en-US" sz="1700" dirty="0"/>
          </a:p>
        </p:txBody>
      </p:sp>
      <p:sp>
        <p:nvSpPr>
          <p:cNvPr id="24" name="Text 22"/>
          <p:cNvSpPr/>
          <p:nvPr/>
        </p:nvSpPr>
        <p:spPr>
          <a:xfrm>
            <a:off x="8302752" y="3291840"/>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R, Stata, and Julia tracks.</a:t>
            </a:r>
            <a:endParaRPr lang="en-US" sz="1700" dirty="0"/>
          </a:p>
        </p:txBody>
      </p:sp>
      <p:sp>
        <p:nvSpPr>
          <p:cNvPr id="25" name="Text 23"/>
          <p:cNvSpPr/>
          <p:nvPr/>
        </p:nvSpPr>
        <p:spPr>
          <a:xfrm>
            <a:off x="8302752" y="3822192"/>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Macros and stateful DATA steps.</a:t>
            </a:r>
            <a:endParaRPr lang="en-US" sz="1700" dirty="0"/>
          </a:p>
        </p:txBody>
      </p:sp>
      <p:sp>
        <p:nvSpPr>
          <p:cNvPr id="26" name="Text 24"/>
          <p:cNvSpPr/>
          <p:nvPr/>
        </p:nvSpPr>
        <p:spPr>
          <a:xfrm>
            <a:off x="8302752" y="4352544"/>
            <a:ext cx="3099816" cy="457200"/>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Performance and redesign.</a:t>
            </a:r>
            <a:endParaRPr lang="en-US" sz="1700" dirty="0"/>
          </a:p>
        </p:txBody>
      </p:sp>
      <p:sp>
        <p:nvSpPr>
          <p:cNvPr id="27" name="Shape 25"/>
          <p:cNvSpPr/>
          <p:nvPr/>
        </p:nvSpPr>
        <p:spPr>
          <a:xfrm>
            <a:off x="594360" y="5614416"/>
            <a:ext cx="11000232" cy="521208"/>
          </a:xfrm>
          <a:prstGeom prst="rect">
            <a:avLst/>
          </a:prstGeom>
          <a:solidFill>
            <a:srgbClr val="193D4D"/>
          </a:solidFill>
          <a:ln w="6350">
            <a:solidFill>
              <a:srgbClr val="193D4D"/>
            </a:solidFill>
            <a:prstDash val="solid"/>
          </a:ln>
        </p:spPr>
      </p:sp>
      <p:sp>
        <p:nvSpPr>
          <p:cNvPr id="28" name="Text 26"/>
          <p:cNvSpPr/>
          <p:nvPr/>
        </p:nvSpPr>
        <p:spPr>
          <a:xfrm>
            <a:off x="777240" y="5769864"/>
            <a:ext cx="10634472" cy="228600"/>
          </a:xfrm>
          <a:prstGeom prst="rect">
            <a:avLst/>
          </a:prstGeom>
          <a:noFill/>
          <a:ln/>
        </p:spPr>
        <p:txBody>
          <a:bodyPr wrap="square" lIns="0" tIns="0" rIns="0" bIns="0" rtlCol="0" anchor="t"/>
          <a:lstStyle/>
          <a:p>
            <a:pPr algn="ctr" indent="0" marL="0">
              <a:buNone/>
            </a:pPr>
            <a:r>
              <a:rPr lang="en-US" sz="1500" b="1" dirty="0">
                <a:solidFill>
                  <a:srgbClr val="FFFFFF"/>
                </a:solidFill>
                <a:latin typeface="Lato" pitchFamily="34" charset="0"/>
                <a:ea typeface="Lato" pitchFamily="34" charset="-122"/>
                <a:cs typeface="Lato" pitchFamily="34" charset="-120"/>
              </a:rPr>
              <a:t>Analyst: requirements and acceptance.   Model: proposed work.   Runtime: observed execution.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5"/>
        </a:solidFill>
      </p:bgPr>
    </p:bg>
    <p:spTree>
      <p:nvGrpSpPr>
        <p:cNvPr id="1" name=""/>
        <p:cNvGrpSpPr/>
        <p:nvPr/>
      </p:nvGrpSpPr>
      <p:grpSpPr>
        <a:xfrm>
          <a:off x="0" y="0"/>
          <a:ext cx="0" cy="0"/>
          <a:chOff x="0" y="0"/>
          <a:chExt cx="0" cy="0"/>
        </a:xfrm>
      </p:grpSpPr>
      <p:sp>
        <p:nvSpPr>
          <p:cNvPr id="2" name="Text 0"/>
          <p:cNvSpPr/>
          <p:nvPr/>
        </p:nvSpPr>
        <p:spPr>
          <a:xfrm>
            <a:off x="594360" y="274320"/>
            <a:ext cx="7315200" cy="210312"/>
          </a:xfrm>
          <a:prstGeom prst="rect">
            <a:avLst/>
          </a:prstGeom>
          <a:noFill/>
          <a:ln/>
        </p:spPr>
        <p:txBody>
          <a:bodyPr wrap="square" lIns="0" tIns="0" rIns="0" bIns="0" rtlCol="0" anchor="t"/>
          <a:lstStyle/>
          <a:p>
            <a:pPr indent="0" marL="0">
              <a:buNone/>
            </a:pPr>
            <a:r>
              <a:rPr lang="en-US" sz="1000" b="1" dirty="0">
                <a:solidFill>
                  <a:srgbClr val="193D4D"/>
                </a:solidFill>
                <a:latin typeface="Lato" pitchFamily="34" charset="0"/>
                <a:ea typeface="Lato" pitchFamily="34" charset="-122"/>
                <a:cs typeface="Lato" pitchFamily="34" charset="-120"/>
              </a:rPr>
              <a:t>SAS TO PYTHON  /  LLM COLLABORATION</a:t>
            </a:r>
            <a:endParaRPr lang="en-US" sz="1000" dirty="0"/>
          </a:p>
        </p:txBody>
      </p:sp>
      <p:sp>
        <p:nvSpPr>
          <p:cNvPr id="3" name="Text 1"/>
          <p:cNvSpPr/>
          <p:nvPr/>
        </p:nvSpPr>
        <p:spPr>
          <a:xfrm>
            <a:off x="8229600" y="274320"/>
            <a:ext cx="3337560" cy="210312"/>
          </a:xfrm>
          <a:prstGeom prst="rect">
            <a:avLst/>
          </a:prstGeom>
          <a:noFill/>
          <a:ln/>
        </p:spPr>
        <p:txBody>
          <a:bodyPr wrap="square" lIns="0" tIns="0" rIns="0" bIns="0" rtlCol="0" anchor="t"/>
          <a:lstStyle/>
          <a:p>
            <a:pPr algn="r" indent="0" marL="0">
              <a:buNone/>
            </a:pPr>
            <a:r>
              <a:rPr lang="en-US" sz="1000" b="1" dirty="0">
                <a:solidFill>
                  <a:srgbClr val="187D7C"/>
                </a:solidFill>
                <a:latin typeface="Lato" pitchFamily="34" charset="0"/>
                <a:ea typeface="Lato" pitchFamily="34" charset="-122"/>
                <a:cs typeface="Lato" pitchFamily="34" charset="-120"/>
              </a:rPr>
              <a:t>TEAM REVIEW</a:t>
            </a:r>
            <a:endParaRPr lang="en-US" sz="1000" dirty="0"/>
          </a:p>
        </p:txBody>
      </p:sp>
      <p:sp>
        <p:nvSpPr>
          <p:cNvPr id="4" name="Text 2"/>
          <p:cNvSpPr/>
          <p:nvPr/>
        </p:nvSpPr>
        <p:spPr>
          <a:xfrm>
            <a:off x="594360" y="804672"/>
            <a:ext cx="10972800" cy="621792"/>
          </a:xfrm>
          <a:prstGeom prst="rect">
            <a:avLst/>
          </a:prstGeom>
          <a:noFill/>
          <a:ln/>
        </p:spPr>
        <p:txBody>
          <a:bodyPr wrap="square" lIns="0" tIns="0" rIns="0" bIns="0" rtlCol="0" anchor="t"/>
          <a:lstStyle/>
          <a:p>
            <a:pPr indent="0" marL="0">
              <a:buNone/>
            </a:pPr>
            <a:r>
              <a:rPr lang="en-US" sz="3100" b="1" dirty="0">
                <a:solidFill>
                  <a:srgbClr val="193D4D"/>
                </a:solidFill>
                <a:latin typeface="Lato" pitchFamily="34" charset="0"/>
                <a:ea typeface="Lato" pitchFamily="34" charset="-122"/>
                <a:cs typeface="Lato" pitchFamily="34" charset="-120"/>
              </a:rPr>
              <a:t>Decide the pilot, not an entire AI curriculum</a:t>
            </a:r>
            <a:endParaRPr lang="en-US" sz="3100" dirty="0"/>
          </a:p>
        </p:txBody>
      </p:sp>
      <p:sp>
        <p:nvSpPr>
          <p:cNvPr id="5" name="Text 3"/>
          <p:cNvSpPr/>
          <p:nvPr/>
        </p:nvSpPr>
        <p:spPr>
          <a:xfrm>
            <a:off x="594360" y="1426464"/>
            <a:ext cx="10972800" cy="402336"/>
          </a:xfrm>
          <a:prstGeom prst="rect">
            <a:avLst/>
          </a:prstGeom>
          <a:noFill/>
          <a:ln/>
        </p:spPr>
        <p:txBody>
          <a:bodyPr wrap="square" lIns="0" tIns="0" rIns="0" bIns="0" rtlCol="0" anchor="t"/>
          <a:lstStyle/>
          <a:p>
            <a:pPr indent="0" marL="0">
              <a:buNone/>
            </a:pPr>
            <a:r>
              <a:rPr lang="en-US" sz="1600" dirty="0">
                <a:solidFill>
                  <a:srgbClr val="61747C"/>
                </a:solidFill>
                <a:latin typeface="Lato" pitchFamily="34" charset="0"/>
                <a:ea typeface="Lato" pitchFamily="34" charset="-122"/>
                <a:cs typeface="Lato" pitchFamily="34" charset="-120"/>
              </a:rPr>
              <a:t>Use these materials to review scope, pacing, prerequisites, and evidence expectations.</a:t>
            </a:r>
            <a:endParaRPr lang="en-US" sz="1600" dirty="0"/>
          </a:p>
        </p:txBody>
      </p:sp>
      <p:sp>
        <p:nvSpPr>
          <p:cNvPr id="6" name="Shape 4"/>
          <p:cNvSpPr/>
          <p:nvPr/>
        </p:nvSpPr>
        <p:spPr>
          <a:xfrm>
            <a:off x="594360" y="6400800"/>
            <a:ext cx="11000232" cy="0"/>
          </a:xfrm>
          <a:prstGeom prst="line">
            <a:avLst/>
          </a:prstGeom>
          <a:noFill/>
          <a:ln w="8255">
            <a:solidFill>
              <a:srgbClr val="D8E2E0"/>
            </a:solidFill>
            <a:prstDash val="solid"/>
          </a:ln>
        </p:spPr>
      </p:sp>
      <p:sp>
        <p:nvSpPr>
          <p:cNvPr id="7" name="Text 5"/>
          <p:cNvSpPr/>
          <p:nvPr/>
        </p:nvSpPr>
        <p:spPr>
          <a:xfrm>
            <a:off x="594360" y="6528816"/>
            <a:ext cx="8046720" cy="164592"/>
          </a:xfrm>
          <a:prstGeom prst="rect">
            <a:avLst/>
          </a:prstGeom>
          <a:noFill/>
          <a:ln/>
        </p:spPr>
        <p:txBody>
          <a:bodyPr wrap="square" lIns="0" tIns="0" rIns="0" bIns="0" rtlCol="0" anchor="t"/>
          <a:lstStyle/>
          <a:p>
            <a:pPr indent="0" marL="0">
              <a:buNone/>
            </a:pPr>
            <a:r>
              <a:rPr lang="en-US" sz="900" dirty="0">
                <a:solidFill>
                  <a:srgbClr val="61747C"/>
                </a:solidFill>
                <a:latin typeface="Lato" pitchFamily="34" charset="0"/>
                <a:ea typeface="Lato" pitchFamily="34" charset="-122"/>
                <a:cs typeface="Lato" pitchFamily="34" charset="-120"/>
              </a:rPr>
              <a:t>PILOT v0.1  |  TEAM REVIEW  |  25 SEP 2026</a:t>
            </a:r>
            <a:endParaRPr lang="en-US" sz="900" dirty="0"/>
          </a:p>
        </p:txBody>
      </p:sp>
      <p:sp>
        <p:nvSpPr>
          <p:cNvPr id="8" name="Text 6"/>
          <p:cNvSpPr/>
          <p:nvPr/>
        </p:nvSpPr>
        <p:spPr>
          <a:xfrm>
            <a:off x="10789920" y="6510528"/>
            <a:ext cx="777240" cy="192024"/>
          </a:xfrm>
          <a:prstGeom prst="rect">
            <a:avLst/>
          </a:prstGeom>
          <a:noFill/>
          <a:ln/>
        </p:spPr>
        <p:txBody>
          <a:bodyPr wrap="square" lIns="0" tIns="0" rIns="0" bIns="0" rtlCol="0" anchor="t"/>
          <a:lstStyle/>
          <a:p>
            <a:pPr algn="r" indent="0" marL="0">
              <a:buNone/>
            </a:pPr>
            <a:r>
              <a:rPr lang="en-US" sz="1000" dirty="0">
                <a:solidFill>
                  <a:srgbClr val="61747C"/>
                </a:solidFill>
                <a:latin typeface="Lato" pitchFamily="34" charset="0"/>
                <a:ea typeface="Lato" pitchFamily="34" charset="-122"/>
                <a:cs typeface="Lato" pitchFamily="34" charset="-120"/>
              </a:rPr>
              <a:t>08 / 08</a:t>
            </a:r>
            <a:endParaRPr lang="en-US" sz="1000" dirty="0"/>
          </a:p>
        </p:txBody>
      </p:sp>
      <p:sp>
        <p:nvSpPr>
          <p:cNvPr id="9" name="Shape 7"/>
          <p:cNvSpPr/>
          <p:nvPr/>
        </p:nvSpPr>
        <p:spPr>
          <a:xfrm>
            <a:off x="594360" y="2011680"/>
            <a:ext cx="11000232" cy="877824"/>
          </a:xfrm>
          <a:prstGeom prst="rect">
            <a:avLst/>
          </a:prstGeom>
          <a:solidFill>
            <a:srgbClr val="EAF4F1"/>
          </a:solidFill>
          <a:ln w="6350">
            <a:solidFill>
              <a:srgbClr val="EAF4F1"/>
            </a:solidFill>
            <a:prstDash val="solid"/>
          </a:ln>
        </p:spPr>
      </p:sp>
      <p:sp>
        <p:nvSpPr>
          <p:cNvPr id="10" name="Text 8"/>
          <p:cNvSpPr/>
          <p:nvPr/>
        </p:nvSpPr>
        <p:spPr>
          <a:xfrm>
            <a:off x="804672" y="2194560"/>
            <a:ext cx="3246120" cy="475488"/>
          </a:xfrm>
          <a:prstGeom prst="rect">
            <a:avLst/>
          </a:prstGeom>
          <a:noFill/>
          <a:ln/>
        </p:spPr>
        <p:txBody>
          <a:bodyPr wrap="square" lIns="0" tIns="0" rIns="0" bIns="0" rtlCol="0" anchor="t"/>
          <a:lstStyle/>
          <a:p>
            <a:pPr indent="0" marL="0">
              <a:buNone/>
            </a:pPr>
            <a:r>
              <a:rPr lang="en-US" sz="1500" b="1" dirty="0">
                <a:solidFill>
                  <a:srgbClr val="187D7C"/>
                </a:solidFill>
                <a:latin typeface="Lato" pitchFamily="34" charset="0"/>
                <a:ea typeface="Lato" pitchFamily="34" charset="-122"/>
                <a:cs typeface="Lato" pitchFamily="34" charset="-120"/>
              </a:rPr>
              <a:t>AUDIENCE AND PACE</a:t>
            </a:r>
            <a:endParaRPr lang="en-US" sz="1500" dirty="0"/>
          </a:p>
        </p:txBody>
      </p:sp>
      <p:sp>
        <p:nvSpPr>
          <p:cNvPr id="11" name="Text 9"/>
          <p:cNvSpPr/>
          <p:nvPr/>
        </p:nvSpPr>
        <p:spPr>
          <a:xfrm>
            <a:off x="4270248" y="2167128"/>
            <a:ext cx="7086600" cy="566928"/>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Are four short sessions realistic for these learners?</a:t>
            </a:r>
            <a:endParaRPr lang="en-US" sz="1700" dirty="0"/>
          </a:p>
          <a:p>
            <a:pPr indent="0" marL="0">
              <a:buNone/>
            </a:pPr>
            <a:r>
              <a:rPr lang="en-US" sz="1700" dirty="0">
                <a:solidFill>
                  <a:srgbClr val="243B45"/>
                </a:solidFill>
                <a:latin typeface="Lato" pitchFamily="34" charset="0"/>
                <a:ea typeface="Lato" pitchFamily="34" charset="-122"/>
                <a:cs typeface="Lato" pitchFamily="34" charset="-120"/>
              </a:rPr>
              <a:t>Which existing examples should anchor the pilot?</a:t>
            </a:r>
            <a:endParaRPr lang="en-US" sz="1700" dirty="0"/>
          </a:p>
        </p:txBody>
      </p:sp>
      <p:sp>
        <p:nvSpPr>
          <p:cNvPr id="12" name="Shape 10"/>
          <p:cNvSpPr/>
          <p:nvPr/>
        </p:nvSpPr>
        <p:spPr>
          <a:xfrm>
            <a:off x="594360" y="3008376"/>
            <a:ext cx="11000232" cy="877824"/>
          </a:xfrm>
          <a:prstGeom prst="rect">
            <a:avLst/>
          </a:prstGeom>
          <a:solidFill>
            <a:srgbClr val="FFFFFF"/>
          </a:solidFill>
          <a:ln w="6350">
            <a:solidFill>
              <a:srgbClr val="FFFFFF"/>
            </a:solidFill>
            <a:prstDash val="solid"/>
          </a:ln>
        </p:spPr>
      </p:sp>
      <p:sp>
        <p:nvSpPr>
          <p:cNvPr id="13" name="Text 11"/>
          <p:cNvSpPr/>
          <p:nvPr/>
        </p:nvSpPr>
        <p:spPr>
          <a:xfrm>
            <a:off x="804672" y="3191256"/>
            <a:ext cx="3246120" cy="475488"/>
          </a:xfrm>
          <a:prstGeom prst="rect">
            <a:avLst/>
          </a:prstGeom>
          <a:noFill/>
          <a:ln/>
        </p:spPr>
        <p:txBody>
          <a:bodyPr wrap="square" lIns="0" tIns="0" rIns="0" bIns="0" rtlCol="0" anchor="t"/>
          <a:lstStyle/>
          <a:p>
            <a:pPr indent="0" marL="0">
              <a:buNone/>
            </a:pPr>
            <a:r>
              <a:rPr lang="en-US" sz="1500" b="1" dirty="0">
                <a:solidFill>
                  <a:srgbClr val="187D7C"/>
                </a:solidFill>
                <a:latin typeface="Lato" pitchFamily="34" charset="0"/>
                <a:ea typeface="Lato" pitchFamily="34" charset="-122"/>
                <a:cs typeface="Lato" pitchFamily="34" charset="-120"/>
              </a:rPr>
              <a:t>ENVIRONMENT AND SUPPORT</a:t>
            </a:r>
            <a:endParaRPr lang="en-US" sz="1500" dirty="0"/>
          </a:p>
        </p:txBody>
      </p:sp>
      <p:sp>
        <p:nvSpPr>
          <p:cNvPr id="14" name="Text 12"/>
          <p:cNvSpPr/>
          <p:nvPr/>
        </p:nvSpPr>
        <p:spPr>
          <a:xfrm>
            <a:off x="4270248" y="3163824"/>
            <a:ext cx="7086600" cy="566928"/>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What approved portal and execution path will be used?</a:t>
            </a:r>
            <a:endParaRPr lang="en-US" sz="1700" dirty="0"/>
          </a:p>
          <a:p>
            <a:pPr indent="0" marL="0">
              <a:buNone/>
            </a:pPr>
            <a:r>
              <a:rPr lang="en-US" sz="1700" dirty="0">
                <a:solidFill>
                  <a:srgbClr val="243B45"/>
                </a:solidFill>
                <a:latin typeface="Lato" pitchFamily="34" charset="0"/>
                <a:ea typeface="Lato" pitchFamily="34" charset="-122"/>
                <a:cs typeface="Lato" pitchFamily="34" charset="-120"/>
              </a:rPr>
              <a:t>Who will confirm access and resolve semantic questions?</a:t>
            </a:r>
            <a:endParaRPr lang="en-US" sz="1700" dirty="0"/>
          </a:p>
        </p:txBody>
      </p:sp>
      <p:sp>
        <p:nvSpPr>
          <p:cNvPr id="15" name="Shape 13"/>
          <p:cNvSpPr/>
          <p:nvPr/>
        </p:nvSpPr>
        <p:spPr>
          <a:xfrm>
            <a:off x="594360" y="4005072"/>
            <a:ext cx="11000232" cy="877824"/>
          </a:xfrm>
          <a:prstGeom prst="rect">
            <a:avLst/>
          </a:prstGeom>
          <a:solidFill>
            <a:srgbClr val="EAF4F1"/>
          </a:solidFill>
          <a:ln w="6350">
            <a:solidFill>
              <a:srgbClr val="EAF4F1"/>
            </a:solidFill>
            <a:prstDash val="solid"/>
          </a:ln>
        </p:spPr>
      </p:sp>
      <p:sp>
        <p:nvSpPr>
          <p:cNvPr id="16" name="Text 14"/>
          <p:cNvSpPr/>
          <p:nvPr/>
        </p:nvSpPr>
        <p:spPr>
          <a:xfrm>
            <a:off x="804672" y="4187952"/>
            <a:ext cx="3246120" cy="475488"/>
          </a:xfrm>
          <a:prstGeom prst="rect">
            <a:avLst/>
          </a:prstGeom>
          <a:noFill/>
          <a:ln/>
        </p:spPr>
        <p:txBody>
          <a:bodyPr wrap="square" lIns="0" tIns="0" rIns="0" bIns="0" rtlCol="0" anchor="t"/>
          <a:lstStyle/>
          <a:p>
            <a:pPr indent="0" marL="0">
              <a:buNone/>
            </a:pPr>
            <a:r>
              <a:rPr lang="en-US" sz="1500" b="1" dirty="0">
                <a:solidFill>
                  <a:srgbClr val="187D7C"/>
                </a:solidFill>
                <a:latin typeface="Lato" pitchFamily="34" charset="0"/>
                <a:ea typeface="Lato" pitchFamily="34" charset="-122"/>
                <a:cs typeface="Lato" pitchFamily="34" charset="-120"/>
              </a:rPr>
              <a:t>ACCEPTANCE AND FEEDBACK</a:t>
            </a:r>
            <a:endParaRPr lang="en-US" sz="1500" dirty="0"/>
          </a:p>
        </p:txBody>
      </p:sp>
      <p:sp>
        <p:nvSpPr>
          <p:cNvPr id="17" name="Text 15"/>
          <p:cNvSpPr/>
          <p:nvPr/>
        </p:nvSpPr>
        <p:spPr>
          <a:xfrm>
            <a:off x="4270248" y="4160520"/>
            <a:ext cx="7086600" cy="566928"/>
          </a:xfrm>
          <a:prstGeom prst="rect">
            <a:avLst/>
          </a:prstGeom>
          <a:noFill/>
          <a:ln/>
        </p:spPr>
        <p:txBody>
          <a:bodyPr wrap="square" lIns="0" tIns="0" rIns="0" bIns="0" rtlCol="0" anchor="t"/>
          <a:lstStyle/>
          <a:p>
            <a:pPr indent="0" marL="0">
              <a:buNone/>
            </a:pPr>
            <a:r>
              <a:rPr lang="en-US" sz="1700" dirty="0">
                <a:solidFill>
                  <a:srgbClr val="243B45"/>
                </a:solidFill>
                <a:latin typeface="Lato" pitchFamily="34" charset="0"/>
                <a:ea typeface="Lato" pitchFamily="34" charset="-122"/>
                <a:cs typeface="Lato" pitchFamily="34" charset="-120"/>
              </a:rPr>
              <a:t>What must learners demonstrate before completion?</a:t>
            </a:r>
            <a:endParaRPr lang="en-US" sz="1700" dirty="0"/>
          </a:p>
          <a:p>
            <a:pPr indent="0" marL="0">
              <a:buNone/>
            </a:pPr>
            <a:r>
              <a:rPr lang="en-US" sz="1700" dirty="0">
                <a:solidFill>
                  <a:srgbClr val="243B45"/>
                </a:solidFill>
                <a:latin typeface="Lato" pitchFamily="34" charset="0"/>
                <a:ea typeface="Lato" pitchFamily="34" charset="-122"/>
                <a:cs typeface="Lato" pitchFamily="34" charset="-120"/>
              </a:rPr>
              <a:t>What observations will drive changes after the pilot?</a:t>
            </a:r>
            <a:endParaRPr lang="en-US" sz="1700" dirty="0"/>
          </a:p>
        </p:txBody>
      </p:sp>
      <p:sp>
        <p:nvSpPr>
          <p:cNvPr id="18" name="Text 16"/>
          <p:cNvSpPr/>
          <p:nvPr/>
        </p:nvSpPr>
        <p:spPr>
          <a:xfrm>
            <a:off x="594360" y="5385816"/>
            <a:ext cx="10972800" cy="713232"/>
          </a:xfrm>
          <a:prstGeom prst="rect">
            <a:avLst/>
          </a:prstGeom>
          <a:noFill/>
          <a:ln/>
        </p:spPr>
        <p:txBody>
          <a:bodyPr wrap="square" lIns="0" tIns="0" rIns="0" bIns="0" rtlCol="0" anchor="t"/>
          <a:lstStyle/>
          <a:p>
            <a:pPr indent="0" marL="0">
              <a:buNone/>
            </a:pPr>
            <a:r>
              <a:rPr lang="en-US" sz="2500" b="1" dirty="0">
                <a:solidFill>
                  <a:srgbClr val="193D4D"/>
                </a:solidFill>
                <a:latin typeface="Lato" pitchFamily="34" charset="0"/>
                <a:ea typeface="Lato" pitchFamily="34" charset="-122"/>
                <a:cs typeface="Lato" pitchFamily="34" charset="-120"/>
              </a:rPr>
              <a:t>The learner can direct the work, inspect the evidence,</a:t>
            </a:r>
            <a:endParaRPr lang="en-US" sz="2500" dirty="0"/>
          </a:p>
          <a:p>
            <a:pPr indent="0" marL="0">
              <a:buNone/>
            </a:pPr>
            <a:r>
              <a:rPr lang="en-US" sz="2500" b="1" dirty="0">
                <a:solidFill>
                  <a:srgbClr val="193D4D"/>
                </a:solidFill>
                <a:latin typeface="Lato" pitchFamily="34" charset="0"/>
                <a:ea typeface="Lato" pitchFamily="34" charset="-122"/>
                <a:cs typeface="Lato" pitchFamily="34" charset="-120"/>
              </a:rPr>
              <a:t>and recognize when the translation is not ready to trust.</a:t>
            </a:r>
            <a:endParaRPr lang="en-US" sz="2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with LLMs: Understand, Translate, and Validate SAS Workflows</dc:title>
  <dc:subject>Four-session collaboration pilot for team review</dc:subject>
  <dc:creator>SAS-to-Python training project</dc:creator>
  <cp:lastModifiedBy>SAS-to-Python training project</cp:lastModifiedBy>
  <cp:revision>1</cp:revision>
  <dcterms:created xsi:type="dcterms:W3CDTF">2026-09-25T13:28:31Z</dcterms:created>
  <dcterms:modified xsi:type="dcterms:W3CDTF">2026-09-25T13:28:31Z</dcterms:modified>
</cp:coreProperties>
</file>